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6" r:id="rId1"/>
  </p:sldMasterIdLst>
  <p:notesMasterIdLst>
    <p:notesMasterId r:id="rId31"/>
  </p:notesMasterIdLst>
  <p:sldIdLst>
    <p:sldId id="256" r:id="rId2"/>
    <p:sldId id="260" r:id="rId3"/>
    <p:sldId id="259" r:id="rId4"/>
    <p:sldId id="262" r:id="rId5"/>
    <p:sldId id="261" r:id="rId6"/>
    <p:sldId id="264" r:id="rId7"/>
    <p:sldId id="267" r:id="rId8"/>
    <p:sldId id="268" r:id="rId9"/>
    <p:sldId id="265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63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1"/>
    <p:restoredTop sz="94802"/>
  </p:normalViewPr>
  <p:slideViewPr>
    <p:cSldViewPr snapToGrid="0" snapToObjects="1">
      <p:cViewPr>
        <p:scale>
          <a:sx n="160" d="100"/>
          <a:sy n="160" d="100"/>
        </p:scale>
        <p:origin x="8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1A48F-2A46-5D43-A97E-28B3F7751D4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E7BB7-6A52-BE45-B0FF-47BEA8B962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04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E7BB7-6A52-BE45-B0FF-47BEA8B962F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5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E7BB7-6A52-BE45-B0FF-47BEA8B962F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820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E7BB7-6A52-BE45-B0FF-47BEA8B962F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18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E7BB7-6A52-BE45-B0FF-47BEA8B962F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482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C1A2-367C-E44D-B076-A89236C2275A}" type="datetime1">
              <a:rPr lang="fr-BE" smtClean="0"/>
              <a:t>5/11/25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85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2DF5A-8468-7244-AE1D-0656CDFFA3D4}" type="datetime1">
              <a:rPr lang="fr-BE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8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97BE-0C9A-8145-988F-438B4D19358E}" type="datetime1">
              <a:rPr lang="fr-BE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2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34E99-AC9D-084C-8171-8B838E9D7848}" type="datetime1">
              <a:rPr lang="fr-BE" smtClean="0"/>
              <a:t>5/11/25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3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4A9E7-516F-A54E-A7E9-1BBBF4064A7D}" type="datetime1">
              <a:rPr lang="fr-BE" smtClean="0"/>
              <a:t>5/11/25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8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EC261-CE44-0944-894D-2D039C35A299}" type="datetime1">
              <a:rPr lang="fr-BE" smtClean="0"/>
              <a:t>5/11/25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2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AE586-FD6F-9B40-9A4F-C0A2BA3D9F9D}" type="datetime1">
              <a:rPr lang="fr-BE" smtClean="0"/>
              <a:t>5/11/25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0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62BC-CD2D-1441-8034-B881C0FF4D91}" type="datetime1">
              <a:rPr lang="fr-BE" smtClean="0"/>
              <a:t>5/11/25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DD86-C0F8-6F4F-93A1-AB4F0B985C1A}" type="datetime1">
              <a:rPr lang="fr-BE" smtClean="0"/>
              <a:t>5/11/25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9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7EEB-B84E-CC4E-B6C6-E6DA6705E492}" type="datetime1">
              <a:rPr lang="fr-BE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1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0AFA8-92CE-E742-99FF-D8EC2863DBF1}" type="datetime1">
              <a:rPr lang="fr-BE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3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BBCD4-EDFF-F847-AAD6-415C28EE0C27}" type="datetime1">
              <a:rPr lang="fr-BE" smtClean="0"/>
              <a:t>5/11/25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035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vuejs.org/guide/quick-start.html#creating-a-vue-applica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vuejs.org/guide/essentials/form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vuejs.org/guide/essentials/lifecycle.html#lifecycle-diagra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atherapi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4" name="Picture 3" descr="Arrière-plan de fumée abstrait">
            <a:extLst>
              <a:ext uri="{FF2B5EF4-FFF2-40B4-BE49-F238E27FC236}">
                <a16:creationId xmlns:a16="http://schemas.microsoft.com/office/drawing/2014/main" id="{408ED775-8003-E749-7280-4748ABF8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6389" r="-1" b="9002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25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608170E-E2EA-808C-6F65-D58D81AC6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346647"/>
            <a:ext cx="7063739" cy="2387600"/>
          </a:xfrm>
        </p:spPr>
        <p:txBody>
          <a:bodyPr>
            <a:normAutofit fontScale="90000"/>
          </a:bodyPr>
          <a:lstStyle/>
          <a:p>
            <a:r>
              <a:rPr lang="fr-FR" sz="2700" dirty="0">
                <a:solidFill>
                  <a:srgbClr val="FFFFFF"/>
                </a:solidFill>
              </a:rPr>
              <a:t>IFAPME - X75-2</a:t>
            </a:r>
            <a:br>
              <a:rPr lang="fr-FR" sz="4000" dirty="0">
                <a:solidFill>
                  <a:srgbClr val="FFFFFF"/>
                </a:solidFill>
              </a:rPr>
            </a:br>
            <a:br>
              <a:rPr lang="fr-FR" sz="2200" dirty="0">
                <a:solidFill>
                  <a:srgbClr val="FFFFFF"/>
                </a:solidFill>
              </a:rPr>
            </a:br>
            <a:r>
              <a:rPr lang="fr-FR" sz="4400" b="1" dirty="0">
                <a:solidFill>
                  <a:srgbClr val="FFFFFF"/>
                </a:solidFill>
              </a:rPr>
              <a:t>Développeur web front end</a:t>
            </a:r>
            <a:br>
              <a:rPr lang="fr-FR" sz="5300" b="1" dirty="0">
                <a:solidFill>
                  <a:srgbClr val="FFFFFF"/>
                </a:solidFill>
              </a:rPr>
            </a:br>
            <a:r>
              <a:rPr lang="fr-FR" sz="5300" b="1" dirty="0">
                <a:solidFill>
                  <a:srgbClr val="FFFFFF"/>
                </a:solidFill>
              </a:rPr>
              <a:t>2022-2023</a:t>
            </a:r>
            <a:endParaRPr lang="fr-FR" b="1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A8187D3-426E-036D-3A1E-CF2E25867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826322"/>
            <a:ext cx="7063739" cy="1655762"/>
          </a:xfrm>
        </p:spPr>
        <p:txBody>
          <a:bodyPr>
            <a:normAutofit/>
          </a:bodyPr>
          <a:lstStyle/>
          <a:p>
            <a:endParaRPr lang="fr-FR" dirty="0">
              <a:solidFill>
                <a:srgbClr val="FFFFFF"/>
              </a:solidFill>
            </a:endParaRPr>
          </a:p>
          <a:p>
            <a:r>
              <a:rPr lang="fr-FR" sz="3600" dirty="0">
                <a:solidFill>
                  <a:srgbClr val="FFFFFF"/>
                </a:solidFill>
              </a:rPr>
              <a:t>ADW - </a:t>
            </a:r>
            <a:r>
              <a:rPr lang="fr-FR" sz="3600" dirty="0" err="1">
                <a:solidFill>
                  <a:srgbClr val="FFFFFF"/>
                </a:solidFill>
              </a:rPr>
              <a:t>VueJS</a:t>
            </a:r>
            <a:endParaRPr lang="fr-FR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26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F8E18AC-903E-4B46-8CC0-FE20E612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DEE38FB-0763-470C-8A5E-44456B513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4F185F-F3D8-E194-6353-F19F064F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4606280" cy="2493876"/>
          </a:xfrm>
        </p:spPr>
        <p:txBody>
          <a:bodyPr anchor="b">
            <a:normAutofit/>
          </a:bodyPr>
          <a:lstStyle/>
          <a:p>
            <a:r>
              <a:rPr lang="en-US" sz="4400"/>
              <a:t>VueJS</a:t>
            </a:r>
            <a:endParaRPr lang="fr-FR" sz="44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E38751-5E5C-4C36-6B94-DED46F2AC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428999"/>
            <a:ext cx="4606280" cy="274796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fr-FR" sz="1800"/>
          </a:p>
        </p:txBody>
      </p:sp>
      <p:sp>
        <p:nvSpPr>
          <p:cNvPr id="1035" name="Oval 1">
            <a:extLst>
              <a:ext uri="{FF2B5EF4-FFF2-40B4-BE49-F238E27FC236}">
                <a16:creationId xmlns:a16="http://schemas.microsoft.com/office/drawing/2014/main" id="{F1D6E6C0-11C7-4A38-BD12-80741960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7" name="decorative circles">
            <a:extLst>
              <a:ext uri="{FF2B5EF4-FFF2-40B4-BE49-F238E27FC236}">
                <a16:creationId xmlns:a16="http://schemas.microsoft.com/office/drawing/2014/main" id="{2B16E781-E64A-4007-B0F1-5A50135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6F5849D6-7C1F-435A-8BEB-2A37173B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9C6C5D90-0568-4F1C-9392-536D4E32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E069E425-421F-469A-9C32-9FB5C16E5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4C31A526-345A-4A63-BA59-FF91204E9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F27432B5-3C17-4415-B09A-67FCBD63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90E4DDCC-A5A9-4365-876A-7992F2CF4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BA5DB42D-36BB-41F6-A512-3AFDD33A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E03F45BD-67A0-4732-B626-9ECB4B18E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5457CB-1F31-1723-0344-12BB70E64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5422" y="2079782"/>
            <a:ext cx="3475314" cy="301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3D7686-699B-FD9A-885D-B837EF58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3150" y="6488268"/>
            <a:ext cx="2743200" cy="23320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5747434-7036-48DB-A148-6B3D8EE75CDA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9CBD958-89E0-1456-119B-2408C03D4A89}"/>
              </a:ext>
            </a:extLst>
          </p:cNvPr>
          <p:cNvSpPr txBox="1"/>
          <p:nvPr/>
        </p:nvSpPr>
        <p:spPr>
          <a:xfrm>
            <a:off x="7249886" y="21771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49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F185F-F3D8-E194-6353-F19F064F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Quand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</a:t>
            </a:r>
            <a:r>
              <a:rPr lang="en-US" dirty="0" err="1"/>
              <a:t>VueJS</a:t>
            </a:r>
            <a:r>
              <a:rPr lang="en-US" dirty="0"/>
              <a:t> 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E38751-5E5C-4C36-6B94-DED46F2AC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/>
              <a:t>Enhancing</a:t>
            </a:r>
            <a:r>
              <a:rPr lang="fr-BE" dirty="0"/>
              <a:t> </a:t>
            </a:r>
            <a:r>
              <a:rPr lang="fr-BE" dirty="0" err="1"/>
              <a:t>static</a:t>
            </a:r>
            <a:r>
              <a:rPr lang="fr-BE" dirty="0"/>
              <a:t> HTML </a:t>
            </a:r>
            <a:r>
              <a:rPr lang="fr-BE" dirty="0" err="1"/>
              <a:t>without</a:t>
            </a:r>
            <a:r>
              <a:rPr lang="fr-BE" dirty="0"/>
              <a:t> a </a:t>
            </a:r>
            <a:r>
              <a:rPr lang="fr-BE" dirty="0" err="1"/>
              <a:t>build</a:t>
            </a:r>
            <a:r>
              <a:rPr lang="fr-BE" dirty="0"/>
              <a:t> </a:t>
            </a:r>
            <a:r>
              <a:rPr lang="fr-BE" dirty="0" err="1"/>
              <a:t>step</a:t>
            </a:r>
            <a:endParaRPr lang="fr-BE" dirty="0"/>
          </a:p>
          <a:p>
            <a:r>
              <a:rPr lang="fr-BE" dirty="0" err="1"/>
              <a:t>Embedding</a:t>
            </a:r>
            <a:r>
              <a:rPr lang="fr-BE" dirty="0"/>
              <a:t> as Web Components on </a:t>
            </a:r>
            <a:r>
              <a:rPr lang="fr-BE" dirty="0" err="1"/>
              <a:t>any</a:t>
            </a:r>
            <a:r>
              <a:rPr lang="fr-BE" dirty="0"/>
              <a:t> page</a:t>
            </a:r>
          </a:p>
          <a:p>
            <a:r>
              <a:rPr lang="fr-BE" b="1" dirty="0"/>
              <a:t>Single-Page Application (SPA)</a:t>
            </a:r>
          </a:p>
          <a:p>
            <a:r>
              <a:rPr lang="fr-BE" dirty="0" err="1"/>
              <a:t>Fullstack</a:t>
            </a:r>
            <a:r>
              <a:rPr lang="fr-BE" dirty="0"/>
              <a:t> / Server-</a:t>
            </a:r>
            <a:r>
              <a:rPr lang="fr-BE" dirty="0" err="1"/>
              <a:t>Side</a:t>
            </a:r>
            <a:r>
              <a:rPr lang="fr-BE" dirty="0"/>
              <a:t> Rendering (SSR)</a:t>
            </a:r>
          </a:p>
          <a:p>
            <a:r>
              <a:rPr lang="fr-BE" dirty="0" err="1"/>
              <a:t>Jamstack</a:t>
            </a:r>
            <a:r>
              <a:rPr lang="fr-BE" dirty="0"/>
              <a:t> / </a:t>
            </a:r>
            <a:r>
              <a:rPr lang="fr-BE" dirty="0" err="1"/>
              <a:t>Static</a:t>
            </a:r>
            <a:r>
              <a:rPr lang="fr-BE" dirty="0"/>
              <a:t> Site </a:t>
            </a:r>
            <a:r>
              <a:rPr lang="fr-BE" dirty="0" err="1"/>
              <a:t>Generation</a:t>
            </a:r>
            <a:r>
              <a:rPr lang="fr-BE" dirty="0"/>
              <a:t> (SSG)</a:t>
            </a:r>
          </a:p>
          <a:p>
            <a:r>
              <a:rPr lang="fr-BE" dirty="0" err="1"/>
              <a:t>Targeting</a:t>
            </a:r>
            <a:r>
              <a:rPr lang="fr-BE" dirty="0"/>
              <a:t> desktop, mobile, </a:t>
            </a:r>
            <a:r>
              <a:rPr lang="fr-BE" dirty="0" err="1"/>
              <a:t>WebGL</a:t>
            </a:r>
            <a:r>
              <a:rPr lang="fr-BE" dirty="0"/>
              <a:t>, and </a:t>
            </a:r>
            <a:r>
              <a:rPr lang="fr-BE" dirty="0" err="1"/>
              <a:t>even</a:t>
            </a:r>
            <a:r>
              <a:rPr lang="fr-BE" dirty="0"/>
              <a:t> the terminal</a:t>
            </a:r>
          </a:p>
          <a:p>
            <a:pPr marL="0" indent="0">
              <a:buNone/>
            </a:pPr>
            <a:endParaRPr lang="fr-BE" b="1" dirty="0"/>
          </a:p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3D7686-699B-FD9A-885D-B837EF58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0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351E6-A76C-A31D-6CB7-FF0815D1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Installer </a:t>
            </a:r>
            <a:r>
              <a:rPr lang="fr-FR" dirty="0" err="1"/>
              <a:t>VueJS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04E48C-82F3-C38A-9555-5E33DAC25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https://vuejs.org/guide/quick-start.html#creating-a-vue-application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B5911C-A061-72B0-A8C5-DA8AE94B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8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9123CB-5F30-F556-171B-B7C57754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Single-File Components (SFC)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7B8F03-1F5B-86B8-2ABA-3CEDC8FD8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composants permettent d’encapsuler une logique</a:t>
            </a:r>
            <a:br>
              <a:rPr lang="fr-FR" dirty="0"/>
            </a:br>
            <a:r>
              <a:rPr lang="fr-FR" dirty="0"/>
              <a:t>de fonctionnement dans un seul fichier (.vue)</a:t>
            </a:r>
          </a:p>
          <a:p>
            <a:r>
              <a:rPr lang="fr-FR" dirty="0"/>
              <a:t>On y retrouve 3 parties :</a:t>
            </a:r>
          </a:p>
          <a:p>
            <a:pPr lvl="1"/>
            <a:r>
              <a:rPr lang="fr-FR" dirty="0"/>
              <a:t>&lt;script&gt; : La logique du composant, comment doit-il</a:t>
            </a:r>
            <a:br>
              <a:rPr lang="fr-FR" dirty="0"/>
            </a:br>
            <a:r>
              <a:rPr lang="fr-FR" dirty="0"/>
              <a:t>réagir et quelles sont les différentes interactions possibles</a:t>
            </a:r>
          </a:p>
          <a:p>
            <a:pPr lvl="1"/>
            <a:r>
              <a:rPr lang="fr-FR" dirty="0"/>
              <a:t>&lt;</a:t>
            </a:r>
            <a:r>
              <a:rPr lang="fr-FR" dirty="0" err="1"/>
              <a:t>template</a:t>
            </a:r>
            <a:r>
              <a:rPr lang="fr-FR" dirty="0"/>
              <a:t>&gt; : La partie rendu, c’est ce qui sera affiché</a:t>
            </a:r>
            <a:br>
              <a:rPr lang="fr-FR" dirty="0"/>
            </a:br>
            <a:r>
              <a:rPr lang="fr-FR" dirty="0"/>
              <a:t>dans le navigateur en fonction de la logique à employer</a:t>
            </a:r>
            <a:br>
              <a:rPr lang="fr-FR" dirty="0"/>
            </a:br>
            <a:r>
              <a:rPr lang="fr-FR" dirty="0"/>
              <a:t>dans &lt;script&gt;</a:t>
            </a:r>
          </a:p>
          <a:p>
            <a:pPr lvl="1"/>
            <a:r>
              <a:rPr lang="fr-FR" dirty="0"/>
              <a:t>&lt;style&gt; : On peut styliser un composant directement dans</a:t>
            </a:r>
            <a:br>
              <a:rPr lang="fr-FR" dirty="0"/>
            </a:br>
            <a:r>
              <a:rPr lang="fr-FR" dirty="0"/>
              <a:t>le même fichier. Avec l’attribut </a:t>
            </a:r>
            <a:r>
              <a:rPr lang="fr-FR" b="1" dirty="0" err="1"/>
              <a:t>scoped</a:t>
            </a:r>
            <a:r>
              <a:rPr lang="fr-FR" b="1" dirty="0"/>
              <a:t> </a:t>
            </a:r>
            <a:r>
              <a:rPr lang="fr-FR" dirty="0"/>
              <a:t>on peut définir</a:t>
            </a:r>
            <a:br>
              <a:rPr lang="fr-FR" dirty="0"/>
            </a:br>
            <a:r>
              <a:rPr lang="fr-FR" dirty="0"/>
              <a:t>que le CSS ne pourra fonctionner qu’avec &lt;</a:t>
            </a:r>
            <a:r>
              <a:rPr lang="fr-FR" dirty="0" err="1"/>
              <a:t>template</a:t>
            </a:r>
            <a:r>
              <a:rPr lang="fr-FR" dirty="0"/>
              <a:t>&gt;</a:t>
            </a:r>
            <a:br>
              <a:rPr lang="fr-FR" dirty="0"/>
            </a:br>
            <a:r>
              <a:rPr lang="fr-FR" dirty="0"/>
              <a:t>dans ce fichier.</a:t>
            </a:r>
            <a:endParaRPr lang="fr-FR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223272-4113-6DFE-6C8C-4B92EFBC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5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B2FC72-361A-81B8-E913-774A2033A0D9}"/>
              </a:ext>
            </a:extLst>
          </p:cNvPr>
          <p:cNvSpPr txBox="1"/>
          <p:nvPr/>
        </p:nvSpPr>
        <p:spPr>
          <a:xfrm>
            <a:off x="7438771" y="1813268"/>
            <a:ext cx="565379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&lt;script&gt;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JetBrains Mono"/>
              </a:rPr>
              <a:t>export default 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lang="fr-BE" sz="1400" dirty="0">
                <a:solidFill>
                  <a:srgbClr val="FFC66D"/>
                </a:solidFill>
                <a:effectLst/>
                <a:latin typeface="JetBrains Mono"/>
              </a:rPr>
              <a:t>data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fr-BE" sz="1400" dirty="0"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lang="fr-BE" sz="1400" dirty="0">
                <a:solidFill>
                  <a:srgbClr val="9876AA"/>
                </a:solidFill>
                <a:effectLst/>
                <a:latin typeface="JetBrains Mono"/>
              </a:rPr>
              <a:t>count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lang="fr-BE" sz="1400" dirty="0"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lang="fr-BE" sz="1400" dirty="0">
                <a:solidFill>
                  <a:srgbClr val="6897BB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  }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&lt;/script&gt;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</a:t>
            </a:r>
            <a:r>
              <a:rPr lang="fr-BE" sz="1400" dirty="0" err="1">
                <a:solidFill>
                  <a:srgbClr val="E8BF6A"/>
                </a:solidFill>
                <a:effectLst/>
                <a:latin typeface="JetBrains Mono"/>
              </a:rPr>
              <a:t>template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  &lt;</a:t>
            </a:r>
            <a:r>
              <a:rPr lang="fr-BE" sz="1400" dirty="0" err="1">
                <a:solidFill>
                  <a:srgbClr val="E8BF6A"/>
                </a:solidFill>
                <a:effectLst/>
                <a:latin typeface="JetBrains Mono"/>
              </a:rPr>
              <a:t>button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 </a:t>
            </a:r>
            <a:r>
              <a:rPr lang="fr-BE" sz="1400" dirty="0">
                <a:solidFill>
                  <a:srgbClr val="BABABA"/>
                </a:solidFill>
                <a:effectLst/>
                <a:latin typeface="JetBrains Mono"/>
              </a:rPr>
              <a:t>@click</a:t>
            </a:r>
            <a:r>
              <a:rPr lang="fr-BE" sz="1400" dirty="0">
                <a:solidFill>
                  <a:srgbClr val="A5C261"/>
                </a:solidFill>
                <a:effectLst/>
                <a:latin typeface="JetBrains Mono"/>
              </a:rPr>
              <a:t>="</a:t>
            </a:r>
            <a:r>
              <a:rPr lang="fr-BE" sz="1400" dirty="0">
                <a:solidFill>
                  <a:srgbClr val="9876AA"/>
                </a:solidFill>
                <a:effectLst/>
                <a:latin typeface="JetBrains Mono"/>
              </a:rPr>
              <a:t>count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++</a:t>
            </a:r>
            <a:r>
              <a:rPr lang="fr-BE" sz="1400" dirty="0">
                <a:solidFill>
                  <a:srgbClr val="A5C261"/>
                </a:solidFill>
                <a:effectLst/>
                <a:latin typeface="JetBrains Mono"/>
              </a:rPr>
              <a:t>"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Count </a:t>
            </a:r>
            <a:r>
              <a:rPr lang="fr-BE" sz="1400" dirty="0" err="1">
                <a:solidFill>
                  <a:srgbClr val="A9B7C6"/>
                </a:solidFill>
                <a:effectLst/>
                <a:latin typeface="JetBrains Mono"/>
              </a:rPr>
              <a:t>is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: {{ count }}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&lt;/</a:t>
            </a:r>
            <a:r>
              <a:rPr lang="fr-BE" sz="1400" dirty="0" err="1">
                <a:solidFill>
                  <a:srgbClr val="E8BF6A"/>
                </a:solidFill>
                <a:effectLst/>
                <a:latin typeface="JetBrains Mono"/>
              </a:rPr>
              <a:t>button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&lt;/</a:t>
            </a:r>
            <a:r>
              <a:rPr lang="fr-BE" sz="1400" dirty="0" err="1">
                <a:solidFill>
                  <a:srgbClr val="E8BF6A"/>
                </a:solidFill>
                <a:effectLst/>
                <a:latin typeface="JetBrains Mono"/>
              </a:rPr>
              <a:t>template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&lt;style </a:t>
            </a:r>
            <a:r>
              <a:rPr lang="fr-BE" sz="1400" dirty="0" err="1">
                <a:solidFill>
                  <a:srgbClr val="BABABA"/>
                </a:solidFill>
                <a:effectLst/>
                <a:latin typeface="JetBrains Mono"/>
              </a:rPr>
              <a:t>scoped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sz="1400" dirty="0" err="1">
                <a:solidFill>
                  <a:srgbClr val="E8BF6A"/>
                </a:solidFill>
                <a:effectLst/>
                <a:latin typeface="JetBrains Mono"/>
              </a:rPr>
              <a:t>button</a:t>
            </a: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 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lang="fr-BE" sz="1400" dirty="0">
                <a:solidFill>
                  <a:srgbClr val="BABABA"/>
                </a:solidFill>
                <a:effectLst/>
                <a:latin typeface="JetBrains Mono"/>
              </a:rPr>
              <a:t>font-</a:t>
            </a:r>
            <a:r>
              <a:rPr lang="fr-BE" sz="1400" dirty="0" err="1">
                <a:solidFill>
                  <a:srgbClr val="BABABA"/>
                </a:solidFill>
                <a:effectLst/>
                <a:latin typeface="JetBrains Mono"/>
              </a:rPr>
              <a:t>weight</a:t>
            </a: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lang="fr-BE" sz="1400" dirty="0" err="1">
                <a:solidFill>
                  <a:srgbClr val="A5C261"/>
                </a:solidFill>
                <a:effectLst/>
                <a:latin typeface="JetBrains Mono"/>
              </a:rPr>
              <a:t>bold</a:t>
            </a:r>
            <a:r>
              <a:rPr lang="fr-BE" sz="14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fr-BE" sz="14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  <a:t>&lt;/style&gt;</a:t>
            </a:r>
            <a:br>
              <a:rPr lang="fr-BE" sz="1400" dirty="0">
                <a:solidFill>
                  <a:srgbClr val="E8BF6A"/>
                </a:solidFill>
                <a:effectLst/>
                <a:latin typeface="JetBrains Mono"/>
              </a:rPr>
            </a:br>
            <a:endParaRPr lang="fr-BE" sz="1400" dirty="0">
              <a:solidFill>
                <a:srgbClr val="A9B7C6"/>
              </a:solidFill>
              <a:effectLst/>
              <a:latin typeface="JetBrains Mono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80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0C5363-A5DD-A5F0-7B75-DC52EA32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Afficher une variable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F57387-0FF4-5E7C-B73C-08065E8A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entoure la variable que l’on souhaite afficher par {{ … }}</a:t>
            </a:r>
          </a:p>
          <a:p>
            <a:r>
              <a:rPr lang="fr-FR" dirty="0"/>
              <a:t>Ou bien en utilisant l’attribut v-html, on lui passe la variable en tant qu’argument</a:t>
            </a:r>
          </a:p>
          <a:p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interpolation: 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{{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ma_variable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}}&lt;/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v-html directive: 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b="0" i="0" dirty="0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v-html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dirty="0" err="1">
                <a:solidFill>
                  <a:srgbClr val="A6ACCD"/>
                </a:solidFill>
                <a:latin typeface="Menlo" panose="020B0609030804020204" pitchFamily="49" charset="0"/>
              </a:rPr>
              <a:t>ma_variable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"&gt;&lt;/</a:t>
            </a:r>
            <a:r>
              <a:rPr lang="fr-BE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span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3FC16E-08EE-1FAF-03F1-CDB78D89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9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0431A-C6A6-2008-7C13-EC2161BE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Fondamentaux de la réactivité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0306AC-16E6-606F-6FC0-062C33A9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Toutes les variables définies dans la partie </a:t>
            </a:r>
            <a:r>
              <a:rPr lang="nl-BE" i="1" dirty="0"/>
              <a:t>data()</a:t>
            </a:r>
            <a:r>
              <a:rPr lang="nl-BE" dirty="0"/>
              <a:t> sont sujettes à être utilisé dans la partie rendu.</a:t>
            </a:r>
          </a:p>
          <a:p>
            <a:r>
              <a:rPr lang="nl-BE" dirty="0"/>
              <a:t>Ces variables peuvent être modifiées à tout moment et le rendu sera directement changé dans le navigateur</a:t>
            </a:r>
          </a:p>
          <a:p>
            <a:r>
              <a:rPr lang="nl-BE" dirty="0"/>
              <a:t>Par exemple :</a:t>
            </a:r>
          </a:p>
          <a:p>
            <a:pPr lvl="1"/>
            <a:r>
              <a:rPr lang="nl-BE" dirty="0"/>
              <a:t>On affiche une variable </a:t>
            </a:r>
            <a:r>
              <a:rPr lang="nl-BE" i="1" dirty="0"/>
              <a:t>text</a:t>
            </a:r>
            <a:r>
              <a:rPr lang="nl-BE" dirty="0"/>
              <a:t> dans le code (Ex: </a:t>
            </a:r>
            <a:r>
              <a:rPr lang="nl-BE" i="1" dirty="0"/>
              <a:t>hello world</a:t>
            </a:r>
            <a:r>
              <a:rPr lang="nl-BE" dirty="0"/>
              <a:t>)</a:t>
            </a:r>
          </a:p>
          <a:p>
            <a:pPr lvl="1"/>
            <a:r>
              <a:rPr lang="nl-BE" dirty="0"/>
              <a:t>Le navigateur affiche le contenu de </a:t>
            </a:r>
            <a:r>
              <a:rPr lang="nl-BE" i="1" dirty="0"/>
              <a:t>tekst</a:t>
            </a:r>
            <a:endParaRPr lang="nl-BE" dirty="0"/>
          </a:p>
          <a:p>
            <a:pPr lvl="1"/>
            <a:r>
              <a:rPr lang="nl-BE" dirty="0"/>
              <a:t>Si (par un évènement quand on clique sur un boutton, par ex.), on modifie le contenu de cette variable</a:t>
            </a:r>
          </a:p>
          <a:p>
            <a:pPr lvl="1"/>
            <a:r>
              <a:rPr lang="nl-BE" dirty="0"/>
              <a:t>Cela sera directement mis à jour dans le rendu du navigateur</a:t>
            </a:r>
            <a:br>
              <a:rPr lang="nl-BE" dirty="0"/>
            </a:br>
            <a:endParaRPr lang="nl-BE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F73052-1B6F-E44B-817F-E5DCC2C4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1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CAB10-7F64-039C-D2AC-722E0259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Ajouter des méthodes à notre composant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C31A9-9C21-E824-5ACE-37CEF24C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On peut créer une section </a:t>
            </a:r>
            <a:r>
              <a:rPr lang="fr-FR" i="1" dirty="0" err="1"/>
              <a:t>methods</a:t>
            </a:r>
            <a:r>
              <a:rPr lang="fr-FR" dirty="0"/>
              <a:t> dans notre logique composant. Ces méthodes pourraient être appelées à différents moments :</a:t>
            </a:r>
          </a:p>
          <a:p>
            <a:pPr lvl="1"/>
            <a:r>
              <a:rPr lang="fr-FR" dirty="0"/>
              <a:t>Par exemple, lorsqu’on clique sur un bouton</a:t>
            </a:r>
          </a:p>
          <a:p>
            <a:pPr lvl="1"/>
            <a:r>
              <a:rPr lang="fr-FR" dirty="0"/>
              <a:t>Pour scinder du code proprement, réutilisable</a:t>
            </a:r>
          </a:p>
          <a:p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export default 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lang="fr-BE" dirty="0">
                <a:solidFill>
                  <a:srgbClr val="FFC66D"/>
                </a:solidFill>
                <a:effectLst/>
                <a:latin typeface="JetBrains Mono"/>
              </a:rPr>
              <a:t>data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lang="fr-BE" dirty="0" err="1">
                <a:solidFill>
                  <a:srgbClr val="9876AA"/>
                </a:solidFill>
                <a:effectLst/>
                <a:latin typeface="JetBrains Mono"/>
              </a:rPr>
              <a:t>text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'Hello world!'</a:t>
            </a:r>
            <a:br>
              <a:rPr lang="fr-BE" dirty="0">
                <a:solidFill>
                  <a:srgbClr val="6A8759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    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}</a:t>
            </a: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fr-BE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  </a:t>
            </a:r>
            <a:br>
              <a:rPr lang="fr-BE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  </a:t>
            </a:r>
            <a:r>
              <a:rPr lang="fr-BE" dirty="0" err="1">
                <a:solidFill>
                  <a:srgbClr val="9876AA"/>
                </a:solidFill>
                <a:effectLst/>
                <a:latin typeface="JetBrains Mono"/>
              </a:rPr>
              <a:t>methods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: 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fr-BE" dirty="0" err="1">
                <a:solidFill>
                  <a:srgbClr val="FFC66D"/>
                </a:solidFill>
                <a:effectLst/>
                <a:latin typeface="JetBrains Mono"/>
              </a:rPr>
              <a:t>ma_fonction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lang="fr-BE" dirty="0">
                <a:solidFill>
                  <a:srgbClr val="808080"/>
                </a:solidFill>
                <a:effectLst/>
                <a:latin typeface="JetBrains Mono"/>
              </a:rPr>
              <a:t>// ...</a:t>
            </a:r>
            <a:br>
              <a:rPr lang="fr-BE" dirty="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}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35445-86A3-2998-F428-09906561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3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0431A-C6A6-2008-7C13-EC2161BE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Binding d’attributs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0306AC-16E6-606F-6FC0-062C33A9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peut dynamiquement ajouter un attribut à une balise HTML, c’est-à-dire passer une variable en tant que paramètre</a:t>
            </a:r>
          </a:p>
          <a:p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v-bind</a:t>
            </a:r>
            <a:r>
              <a:rPr lang="fr-BE" b="0" i="0" dirty="0" err="1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BE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dynamicId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"&gt;&lt;/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fr-FR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</a:b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:</a:t>
            </a:r>
            <a:r>
              <a:rPr lang="fr-BE" b="0" i="0" dirty="0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dynamicId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"&gt;&lt;/</a:t>
            </a:r>
            <a:r>
              <a:rPr lang="fr-BE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fr-BE" dirty="0">
              <a:solidFill>
                <a:srgbClr val="89DDFF"/>
              </a:solidFill>
              <a:latin typeface="Menlo" panose="020B0609030804020204" pitchFamily="49" charset="0"/>
            </a:endParaRPr>
          </a:p>
          <a:p>
            <a:r>
              <a:rPr lang="fr-FR" dirty="0"/>
              <a:t>On peut également directement passer un booléen à certains attributs. Dans l’exemple ci-dessous, si la variable </a:t>
            </a:r>
            <a:r>
              <a:rPr lang="fr-FR" i="1" dirty="0" err="1"/>
              <a:t>isButtonDisabled</a:t>
            </a:r>
            <a:r>
              <a:rPr lang="fr-FR" i="1" dirty="0"/>
              <a:t> == </a:t>
            </a:r>
            <a:r>
              <a:rPr lang="fr-FR" i="1" dirty="0" err="1"/>
              <a:t>true</a:t>
            </a:r>
            <a:r>
              <a:rPr lang="fr-FR" dirty="0"/>
              <a:t> alors l’attribut </a:t>
            </a:r>
            <a:r>
              <a:rPr lang="fr-FR" i="1" dirty="0" err="1"/>
              <a:t>disabled</a:t>
            </a:r>
            <a:r>
              <a:rPr lang="fr-FR" dirty="0"/>
              <a:t> sera ajouté à la balise </a:t>
            </a:r>
            <a:r>
              <a:rPr lang="fr-FR" i="1" dirty="0" err="1"/>
              <a:t>button</a:t>
            </a:r>
            <a:endParaRPr lang="fr-FR" i="1" dirty="0"/>
          </a:p>
          <a:p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:</a:t>
            </a:r>
            <a:r>
              <a:rPr lang="fr-BE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disabled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isButtonDisabled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"&gt;</a:t>
            </a:r>
            <a:r>
              <a:rPr lang="fr-BE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F73052-1B6F-E44B-817F-E5DCC2C4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3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0431A-C6A6-2008-7C13-EC2161BE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Binding d’attributs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0306AC-16E6-606F-6FC0-062C33A9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On peut également directement binder un objet contenant différents attributs pour gagner du temps et de la lisibilité</a:t>
            </a:r>
          </a:p>
          <a:p>
            <a:r>
              <a:rPr lang="fr-BE" dirty="0">
                <a:solidFill>
                  <a:srgbClr val="FFC66D"/>
                </a:solidFill>
                <a:effectLst/>
                <a:latin typeface="JetBrains Mono"/>
              </a:rPr>
              <a:t>data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fr-BE" dirty="0" err="1">
                <a:solidFill>
                  <a:srgbClr val="9876AA"/>
                </a:solidFill>
                <a:effectLst/>
                <a:latin typeface="JetBrains Mono"/>
              </a:rPr>
              <a:t>objectOfAttrs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: {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lang="fr-BE" dirty="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'container'</a:t>
            </a: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fr-BE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lang="fr-BE" dirty="0">
                <a:solidFill>
                  <a:srgbClr val="9876AA"/>
                </a:solidFill>
                <a:effectLst/>
                <a:latin typeface="JetBrains Mono"/>
              </a:rPr>
              <a:t>class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lang="fr-BE" dirty="0" err="1">
                <a:solidFill>
                  <a:srgbClr val="6A8759"/>
                </a:solidFill>
                <a:effectLst/>
                <a:latin typeface="JetBrains Mono"/>
              </a:rPr>
              <a:t>wrapper</a:t>
            </a: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'</a:t>
            </a:r>
            <a:br>
              <a:rPr lang="fr-BE" dirty="0">
                <a:solidFill>
                  <a:srgbClr val="6A8759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    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  }</a:t>
            </a:r>
            <a:br>
              <a:rPr lang="fr-BE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&lt;div </a:t>
            </a:r>
            <a:r>
              <a:rPr lang="fr-BE" dirty="0">
                <a:solidFill>
                  <a:srgbClr val="BABABA"/>
                </a:solidFill>
                <a:effectLst/>
                <a:latin typeface="JetBrains Mono"/>
              </a:rPr>
              <a:t>v-</a:t>
            </a:r>
            <a:r>
              <a:rPr lang="fr-BE" dirty="0" err="1">
                <a:solidFill>
                  <a:srgbClr val="BABABA"/>
                </a:solidFill>
                <a:effectLst/>
                <a:latin typeface="JetBrains Mono"/>
              </a:rPr>
              <a:t>bind</a:t>
            </a:r>
            <a:r>
              <a:rPr lang="fr-BE" dirty="0">
                <a:solidFill>
                  <a:srgbClr val="A5C261"/>
                </a:solidFill>
                <a:effectLst/>
                <a:latin typeface="JetBrains Mono"/>
              </a:rPr>
              <a:t>="</a:t>
            </a:r>
            <a:r>
              <a:rPr lang="fr-BE" dirty="0" err="1">
                <a:solidFill>
                  <a:srgbClr val="9876AA"/>
                </a:solidFill>
                <a:effectLst/>
                <a:latin typeface="JetBrains Mono"/>
              </a:rPr>
              <a:t>objectOfAttrs</a:t>
            </a:r>
            <a:r>
              <a:rPr lang="fr-BE" dirty="0">
                <a:solidFill>
                  <a:srgbClr val="A5C261"/>
                </a:solidFill>
                <a:effectLst/>
                <a:latin typeface="JetBrains Mono"/>
              </a:rPr>
              <a:t>"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&gt;&lt;/div&gt;</a:t>
            </a:r>
            <a:br>
              <a:rPr lang="nl-BE" dirty="0"/>
            </a:br>
            <a:endParaRPr lang="nl-BE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F73052-1B6F-E44B-817F-E5DCC2C4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9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CAB10-7F64-039C-D2AC-722E0259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</a:t>
            </a:r>
            <a:r>
              <a:rPr lang="fr-FR" dirty="0" err="1"/>
              <a:t>computed</a:t>
            </a:r>
            <a:r>
              <a:rPr lang="fr-FR" dirty="0"/>
              <a:t> </a:t>
            </a:r>
            <a:r>
              <a:rPr lang="fr-FR" dirty="0" err="1"/>
              <a:t>properties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C31A9-9C21-E824-5ACE-37CEF24C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Au lieu d’utiliser des méthodes pour afficher un résultat dans le code HTML, on préfèrera utiliser les </a:t>
            </a:r>
            <a:r>
              <a:rPr lang="fr-FR" i="1" dirty="0" err="1"/>
              <a:t>computed</a:t>
            </a:r>
            <a:r>
              <a:rPr lang="fr-FR" i="1" dirty="0"/>
              <a:t> </a:t>
            </a:r>
            <a:r>
              <a:rPr lang="fr-FR" i="1" dirty="0" err="1"/>
              <a:t>properties</a:t>
            </a:r>
            <a:endParaRPr lang="fr-FR" dirty="0"/>
          </a:p>
          <a:p>
            <a:r>
              <a:rPr lang="fr-FR" dirty="0"/>
              <a:t>Elles ont l’avantage de n’être mise à jour que lorsque la partie data() est mise à jour (à la différence à une méthode qui, affichée dans l’HTML, sera exécutée à chaque cycle de l’application)</a:t>
            </a:r>
          </a:p>
          <a:p>
            <a:r>
              <a:rPr lang="fr-BE" dirty="0" err="1">
                <a:solidFill>
                  <a:srgbClr val="9876AA"/>
                </a:solidFill>
                <a:latin typeface="JetBrains Mono"/>
              </a:rPr>
              <a:t>computed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{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  </a:t>
            </a:r>
            <a:r>
              <a:rPr lang="fr-BE" dirty="0">
                <a:solidFill>
                  <a:srgbClr val="808080"/>
                </a:solidFill>
                <a:latin typeface="JetBrains Mono"/>
              </a:rPr>
              <a:t>// a </a:t>
            </a:r>
            <a:r>
              <a:rPr lang="fr-BE" dirty="0" err="1">
                <a:solidFill>
                  <a:srgbClr val="808080"/>
                </a:solidFill>
                <a:latin typeface="JetBrains Mono"/>
              </a:rPr>
              <a:t>computed</a:t>
            </a:r>
            <a:r>
              <a:rPr lang="fr-BE" dirty="0">
                <a:solidFill>
                  <a:srgbClr val="808080"/>
                </a:solidFill>
                <a:latin typeface="JetBrains Mono"/>
              </a:rPr>
              <a:t> getter</a:t>
            </a:r>
            <a:br>
              <a:rPr lang="fr-BE" dirty="0">
                <a:solidFill>
                  <a:srgbClr val="808080"/>
                </a:solidFill>
                <a:latin typeface="JetBrains Mono"/>
              </a:rPr>
            </a:br>
            <a:r>
              <a:rPr lang="fr-BE" dirty="0">
                <a:solidFill>
                  <a:srgbClr val="808080"/>
                </a:solidFill>
                <a:latin typeface="JetBrains Mono"/>
              </a:rPr>
              <a:t>  </a:t>
            </a:r>
            <a:r>
              <a:rPr lang="fr-BE" dirty="0" err="1">
                <a:solidFill>
                  <a:srgbClr val="FFC66D"/>
                </a:solidFill>
                <a:latin typeface="JetBrains Mono"/>
              </a:rPr>
              <a:t>publishedBooksMessage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() {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    </a:t>
            </a:r>
            <a:r>
              <a:rPr lang="fr-BE" dirty="0">
                <a:solidFill>
                  <a:srgbClr val="808080"/>
                </a:solidFill>
                <a:latin typeface="JetBrains Mono"/>
              </a:rPr>
              <a:t>// `</a:t>
            </a:r>
            <a:r>
              <a:rPr lang="fr-BE" dirty="0" err="1">
                <a:solidFill>
                  <a:srgbClr val="808080"/>
                </a:solidFill>
                <a:latin typeface="JetBrains Mono"/>
              </a:rPr>
              <a:t>this</a:t>
            </a:r>
            <a:r>
              <a:rPr lang="fr-BE" dirty="0">
                <a:solidFill>
                  <a:srgbClr val="808080"/>
                </a:solidFill>
                <a:latin typeface="JetBrains Mono"/>
              </a:rPr>
              <a:t>` points to the data() of the component instance</a:t>
            </a:r>
            <a:br>
              <a:rPr lang="fr-BE" dirty="0">
                <a:solidFill>
                  <a:srgbClr val="808080"/>
                </a:solidFill>
                <a:latin typeface="JetBrains Mono"/>
              </a:rPr>
            </a:br>
            <a:r>
              <a:rPr lang="fr-BE" dirty="0">
                <a:solidFill>
                  <a:srgbClr val="808080"/>
                </a:solidFill>
                <a:latin typeface="JetBrains Mono"/>
              </a:rPr>
              <a:t>    </a:t>
            </a:r>
            <a:r>
              <a:rPr lang="fr-BE" dirty="0">
                <a:solidFill>
                  <a:srgbClr val="CC7832"/>
                </a:solidFill>
                <a:latin typeface="JetBrains Mono"/>
              </a:rPr>
              <a:t>return </a:t>
            </a:r>
            <a:r>
              <a:rPr lang="fr-BE" dirty="0" err="1">
                <a:solidFill>
                  <a:srgbClr val="CC7832"/>
                </a:solidFill>
                <a:latin typeface="JetBrains Mono"/>
              </a:rPr>
              <a:t>this</a:t>
            </a:r>
            <a:r>
              <a:rPr lang="fr-BE" dirty="0" err="1">
                <a:solidFill>
                  <a:srgbClr val="A9B7C6"/>
                </a:solidFill>
                <a:latin typeface="JetBrains Mono"/>
              </a:rPr>
              <a:t>.author.books.</a:t>
            </a:r>
            <a:r>
              <a:rPr lang="fr-BE" dirty="0" err="1">
                <a:solidFill>
                  <a:srgbClr val="9876AA"/>
                </a:solidFill>
                <a:latin typeface="JetBrains Mono"/>
              </a:rPr>
              <a:t>length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&gt; </a:t>
            </a:r>
            <a:r>
              <a:rPr lang="fr-BE" dirty="0">
                <a:solidFill>
                  <a:srgbClr val="6897BB"/>
                </a:solidFill>
                <a:latin typeface="JetBrains Mono"/>
              </a:rPr>
              <a:t>0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? </a:t>
            </a:r>
            <a:r>
              <a:rPr lang="fr-BE" dirty="0">
                <a:solidFill>
                  <a:srgbClr val="6A8759"/>
                </a:solidFill>
                <a:latin typeface="JetBrains Mono"/>
              </a:rPr>
              <a:t>'Yes'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dirty="0">
                <a:solidFill>
                  <a:srgbClr val="6A8759"/>
                </a:solidFill>
                <a:latin typeface="JetBrains Mono"/>
              </a:rPr>
              <a:t>'No'</a:t>
            </a:r>
            <a:br>
              <a:rPr lang="fr-BE" dirty="0">
                <a:solidFill>
                  <a:srgbClr val="6A8759"/>
                </a:solidFill>
                <a:latin typeface="JetBrains Mono"/>
              </a:rPr>
            </a:br>
            <a:r>
              <a:rPr lang="fr-BE" dirty="0">
                <a:solidFill>
                  <a:srgbClr val="6A8759"/>
                </a:solidFill>
                <a:latin typeface="JetBrains Mono"/>
              </a:rPr>
              <a:t> 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}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}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35445-86A3-2998-F428-09906561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9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CAB10-7F64-039C-D2AC-722E0259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Class binding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C31A9-9C21-E824-5ACE-37CEF24C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class binding permet, comme pour les attributs, d’affecter des classes dynamiquement selon une condition ou une variable</a:t>
            </a:r>
          </a:p>
          <a:p>
            <a:r>
              <a:rPr lang="fr-BE" sz="1800" dirty="0">
                <a:solidFill>
                  <a:srgbClr val="FFC66D"/>
                </a:solidFill>
                <a:latin typeface="JetBrains Mono"/>
              </a:rPr>
              <a:t>data</a:t>
            </a:r>
            <a:r>
              <a:rPr lang="fr-BE" sz="1800" dirty="0">
                <a:solidFill>
                  <a:srgbClr val="A9B7C6"/>
                </a:solidFill>
                <a:latin typeface="JetBrains Mono"/>
              </a:rPr>
              <a:t>() {</a:t>
            </a:r>
            <a:br>
              <a:rPr lang="fr-BE" sz="1800" dirty="0">
                <a:solidFill>
                  <a:srgbClr val="A9B7C6"/>
                </a:solidFill>
                <a:latin typeface="JetBrains Mono"/>
              </a:rPr>
            </a:br>
            <a:r>
              <a:rPr lang="fr-BE" sz="1800" dirty="0">
                <a:solidFill>
                  <a:srgbClr val="A9B7C6"/>
                </a:solidFill>
                <a:latin typeface="JetBrains Mono"/>
              </a:rPr>
              <a:t>  </a:t>
            </a:r>
            <a:r>
              <a:rPr lang="fr-BE" sz="1800" dirty="0">
                <a:solidFill>
                  <a:srgbClr val="CC7832"/>
                </a:solidFill>
                <a:latin typeface="JetBrains Mono"/>
              </a:rPr>
              <a:t>return </a:t>
            </a:r>
            <a:r>
              <a:rPr lang="fr-BE" sz="1800" dirty="0">
                <a:solidFill>
                  <a:srgbClr val="A9B7C6"/>
                </a:solidFill>
                <a:latin typeface="JetBrains Mono"/>
              </a:rPr>
              <a:t>{</a:t>
            </a:r>
            <a:br>
              <a:rPr lang="fr-BE" sz="1800" dirty="0">
                <a:solidFill>
                  <a:srgbClr val="A9B7C6"/>
                </a:solidFill>
                <a:latin typeface="JetBrains Mono"/>
              </a:rPr>
            </a:br>
            <a:r>
              <a:rPr lang="fr-BE" sz="1800" dirty="0">
                <a:solidFill>
                  <a:srgbClr val="A9B7C6"/>
                </a:solidFill>
                <a:latin typeface="JetBrains Mono"/>
              </a:rPr>
              <a:t>    </a:t>
            </a:r>
            <a:r>
              <a:rPr lang="fr-BE" sz="1800" dirty="0" err="1">
                <a:solidFill>
                  <a:srgbClr val="9876AA"/>
                </a:solidFill>
                <a:latin typeface="JetBrains Mono"/>
              </a:rPr>
              <a:t>isActive</a:t>
            </a:r>
            <a:r>
              <a:rPr lang="fr-BE" sz="1800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sz="1800" dirty="0" err="1">
                <a:solidFill>
                  <a:srgbClr val="CC7832"/>
                </a:solidFill>
                <a:latin typeface="JetBrains Mono"/>
              </a:rPr>
              <a:t>true</a:t>
            </a:r>
            <a:r>
              <a:rPr lang="fr-BE" sz="1800" dirty="0">
                <a:solidFill>
                  <a:srgbClr val="CC7832"/>
                </a:solidFill>
                <a:latin typeface="JetBrains Mono"/>
              </a:rPr>
              <a:t>, </a:t>
            </a:r>
            <a:br>
              <a:rPr lang="fr-BE" sz="1800" dirty="0">
                <a:solidFill>
                  <a:srgbClr val="CC7832"/>
                </a:solidFill>
                <a:latin typeface="JetBrains Mono"/>
              </a:rPr>
            </a:br>
            <a:r>
              <a:rPr lang="fr-BE" sz="1800" dirty="0">
                <a:solidFill>
                  <a:srgbClr val="CC7832"/>
                </a:solidFill>
                <a:latin typeface="JetBrains Mono"/>
              </a:rPr>
              <a:t>    </a:t>
            </a:r>
            <a:r>
              <a:rPr lang="fr-BE" sz="1800" dirty="0" err="1">
                <a:solidFill>
                  <a:srgbClr val="9876AA"/>
                </a:solidFill>
                <a:latin typeface="JetBrains Mono"/>
              </a:rPr>
              <a:t>hasError</a:t>
            </a:r>
            <a:r>
              <a:rPr lang="fr-BE" sz="1800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sz="1800" dirty="0">
                <a:solidFill>
                  <a:srgbClr val="CC7832"/>
                </a:solidFill>
                <a:latin typeface="JetBrains Mono"/>
              </a:rPr>
              <a:t>false</a:t>
            </a:r>
            <a:br>
              <a:rPr lang="fr-BE" sz="1800" dirty="0">
                <a:solidFill>
                  <a:srgbClr val="CC7832"/>
                </a:solidFill>
                <a:latin typeface="JetBrains Mono"/>
              </a:rPr>
            </a:br>
            <a:r>
              <a:rPr lang="fr-BE" sz="1800" dirty="0">
                <a:solidFill>
                  <a:srgbClr val="CC7832"/>
                </a:solidFill>
                <a:latin typeface="JetBrains Mono"/>
              </a:rPr>
              <a:t>  </a:t>
            </a:r>
            <a:r>
              <a:rPr lang="fr-BE" sz="1800" dirty="0">
                <a:solidFill>
                  <a:srgbClr val="A9B7C6"/>
                </a:solidFill>
                <a:latin typeface="JetBrains Mono"/>
              </a:rPr>
              <a:t>}</a:t>
            </a:r>
            <a:br>
              <a:rPr lang="fr-BE" sz="1800" dirty="0">
                <a:solidFill>
                  <a:srgbClr val="A9B7C6"/>
                </a:solidFill>
                <a:latin typeface="JetBrains Mono"/>
              </a:rPr>
            </a:br>
            <a:r>
              <a:rPr lang="fr-BE" sz="1800" dirty="0">
                <a:solidFill>
                  <a:srgbClr val="A9B7C6"/>
                </a:solidFill>
                <a:latin typeface="JetBrains Mono"/>
              </a:rPr>
              <a:t>}</a:t>
            </a:r>
            <a:r>
              <a:rPr lang="fr-BE" sz="1800" dirty="0">
                <a:solidFill>
                  <a:srgbClr val="CC7832"/>
                </a:solidFill>
                <a:latin typeface="JetBrains Mono"/>
              </a:rPr>
              <a:t>,</a:t>
            </a:r>
            <a:endParaRPr lang="fr-BE" sz="1800" dirty="0">
              <a:solidFill>
                <a:srgbClr val="A9B7C6"/>
              </a:solidFill>
              <a:latin typeface="JetBrains Mono"/>
            </a:endParaRPr>
          </a:p>
          <a:p>
            <a:endParaRPr lang="fr-BE" sz="1600" dirty="0">
              <a:solidFill>
                <a:srgbClr val="89DDFF"/>
              </a:solidFill>
              <a:latin typeface="Menlo" panose="020B0609030804020204" pitchFamily="49" charset="0"/>
            </a:endParaRPr>
          </a:p>
          <a:p>
            <a:r>
              <a:rPr lang="fr-BE" dirty="0">
                <a:solidFill>
                  <a:srgbClr val="E8BF6A"/>
                </a:solidFill>
                <a:latin typeface="JetBrains Mono"/>
              </a:rPr>
              <a:t>&lt;div </a:t>
            </a:r>
            <a:r>
              <a:rPr lang="fr-BE" dirty="0">
                <a:solidFill>
                  <a:srgbClr val="BABABA"/>
                </a:solidFill>
                <a:latin typeface="JetBrains Mono"/>
              </a:rPr>
              <a:t>class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="</a:t>
            </a:r>
            <a:r>
              <a:rPr lang="fr-BE" dirty="0" err="1">
                <a:solidFill>
                  <a:srgbClr val="A5C261"/>
                </a:solidFill>
                <a:latin typeface="JetBrains Mono"/>
              </a:rPr>
              <a:t>static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" </a:t>
            </a:r>
            <a:r>
              <a:rPr lang="fr-BE" dirty="0">
                <a:solidFill>
                  <a:srgbClr val="BABABA"/>
                </a:solidFill>
                <a:latin typeface="JetBrains Mono"/>
              </a:rPr>
              <a:t>:class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="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{ 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active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dirty="0" err="1">
                <a:solidFill>
                  <a:srgbClr val="9876AA"/>
                </a:solidFill>
                <a:latin typeface="JetBrains Mono"/>
              </a:rPr>
              <a:t>isActive</a:t>
            </a:r>
            <a:r>
              <a:rPr lang="fr-BE" dirty="0">
                <a:solidFill>
                  <a:srgbClr val="CC7832"/>
                </a:solidFill>
                <a:latin typeface="JetBrains Mono"/>
              </a:rPr>
              <a:t>, </a:t>
            </a:r>
            <a:r>
              <a:rPr lang="fr-BE" dirty="0">
                <a:solidFill>
                  <a:srgbClr val="6A8759"/>
                </a:solidFill>
                <a:latin typeface="JetBrains Mono"/>
              </a:rPr>
              <a:t>'</a:t>
            </a:r>
            <a:r>
              <a:rPr lang="fr-BE" dirty="0" err="1">
                <a:solidFill>
                  <a:srgbClr val="6A8759"/>
                </a:solidFill>
                <a:latin typeface="JetBrains Mono"/>
              </a:rPr>
              <a:t>text</a:t>
            </a:r>
            <a:r>
              <a:rPr lang="fr-BE" dirty="0">
                <a:solidFill>
                  <a:srgbClr val="6A8759"/>
                </a:solidFill>
                <a:latin typeface="JetBrains Mono"/>
              </a:rPr>
              <a:t>-danger'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dirty="0" err="1">
                <a:solidFill>
                  <a:srgbClr val="9876AA"/>
                </a:solidFill>
                <a:latin typeface="JetBrains Mono"/>
              </a:rPr>
              <a:t>hasError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}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" 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&gt;&lt;/div&gt;</a:t>
            </a:r>
            <a:endParaRPr lang="fr-BE" dirty="0">
              <a:solidFill>
                <a:srgbClr val="A9B7C6"/>
              </a:solidFill>
              <a:latin typeface="JetBrains Mono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35445-86A3-2998-F428-09906561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CAB10-7F64-039C-D2AC-722E0259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Rendu conditionnel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C31A9-9C21-E824-5ACE-37CEF24C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</a:t>
            </a:r>
            <a:r>
              <a:rPr lang="fr-FR" dirty="0" err="1"/>
              <a:t>VueJS</a:t>
            </a:r>
            <a:r>
              <a:rPr lang="fr-FR" dirty="0"/>
              <a:t>, il est possible de choisir d’afficher une section de code HTML, ou pas, selon une ou plusieurs conditions</a:t>
            </a:r>
          </a:p>
          <a:p>
            <a:r>
              <a:rPr lang="fr-BE" dirty="0">
                <a:solidFill>
                  <a:srgbClr val="E8BF6A"/>
                </a:solidFill>
                <a:latin typeface="JetBrains Mono"/>
              </a:rPr>
              <a:t>&lt;h1 </a:t>
            </a:r>
            <a:r>
              <a:rPr lang="fr-BE" dirty="0" err="1">
                <a:solidFill>
                  <a:srgbClr val="BABABA"/>
                </a:solidFill>
                <a:latin typeface="JetBrains Mono"/>
              </a:rPr>
              <a:t>v-if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="</a:t>
            </a:r>
            <a:r>
              <a:rPr lang="fr-BE" dirty="0" err="1">
                <a:solidFill>
                  <a:srgbClr val="A9B7C6"/>
                </a:solidFill>
                <a:latin typeface="JetBrains Mono"/>
              </a:rPr>
              <a:t>isMorning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"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&gt;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Bonjour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&lt;/h1&gt;</a:t>
            </a:r>
            <a:br>
              <a:rPr lang="fr-BE" dirty="0">
                <a:solidFill>
                  <a:srgbClr val="E8BF6A"/>
                </a:solidFill>
                <a:latin typeface="JetBrains Mono"/>
              </a:rPr>
            </a:br>
            <a:r>
              <a:rPr lang="fr-BE" dirty="0">
                <a:solidFill>
                  <a:srgbClr val="E8BF6A"/>
                </a:solidFill>
                <a:latin typeface="JetBrains Mono"/>
              </a:rPr>
              <a:t>&lt;h1 </a:t>
            </a:r>
            <a:r>
              <a:rPr lang="fr-BE" dirty="0">
                <a:solidFill>
                  <a:srgbClr val="BABABA"/>
                </a:solidFill>
                <a:latin typeface="JetBrains Mono"/>
              </a:rPr>
              <a:t>v-</a:t>
            </a:r>
            <a:r>
              <a:rPr lang="fr-BE" dirty="0" err="1">
                <a:solidFill>
                  <a:srgbClr val="BABABA"/>
                </a:solidFill>
                <a:latin typeface="JetBrains Mono"/>
              </a:rPr>
              <a:t>else</a:t>
            </a:r>
            <a:r>
              <a:rPr lang="fr-BE" dirty="0">
                <a:solidFill>
                  <a:srgbClr val="BABABA"/>
                </a:solidFill>
                <a:latin typeface="JetBrains Mono"/>
              </a:rPr>
              <a:t>-if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="</a:t>
            </a:r>
            <a:r>
              <a:rPr lang="fr-BE" dirty="0" err="1">
                <a:solidFill>
                  <a:srgbClr val="A9B7C6"/>
                </a:solidFill>
                <a:latin typeface="JetBrains Mono"/>
              </a:rPr>
              <a:t>isEvening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"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&gt;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Bonsoir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&lt;/h1&gt;</a:t>
            </a:r>
            <a:br>
              <a:rPr lang="fr-BE" dirty="0">
                <a:solidFill>
                  <a:srgbClr val="E8BF6A"/>
                </a:solidFill>
                <a:latin typeface="JetBrains Mono"/>
              </a:rPr>
            </a:br>
            <a:r>
              <a:rPr lang="fr-BE" dirty="0">
                <a:solidFill>
                  <a:srgbClr val="E8BF6A"/>
                </a:solidFill>
                <a:latin typeface="JetBrains Mono"/>
              </a:rPr>
              <a:t>&lt;h1 </a:t>
            </a:r>
            <a:r>
              <a:rPr lang="fr-BE" dirty="0">
                <a:solidFill>
                  <a:srgbClr val="BABABA"/>
                </a:solidFill>
                <a:latin typeface="JetBrains Mono"/>
              </a:rPr>
              <a:t>v-</a:t>
            </a:r>
            <a:r>
              <a:rPr lang="fr-BE" dirty="0" err="1">
                <a:solidFill>
                  <a:srgbClr val="BABABA"/>
                </a:solidFill>
                <a:latin typeface="JetBrains Mono"/>
              </a:rPr>
              <a:t>else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&gt;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Hello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&lt;/h1&gt;</a:t>
            </a:r>
            <a:endParaRPr lang="fr-BE" dirty="0">
              <a:solidFill>
                <a:srgbClr val="A9B7C6"/>
              </a:solidFill>
              <a:latin typeface="JetBrains Mono"/>
            </a:endParaRPr>
          </a:p>
          <a:p>
            <a:endParaRPr lang="fr-BE" dirty="0">
              <a:solidFill>
                <a:srgbClr val="A9B7C6"/>
              </a:solidFill>
              <a:latin typeface="JetBrains Mono"/>
            </a:endParaRPr>
          </a:p>
          <a:p>
            <a:r>
              <a:rPr lang="fr-FR" dirty="0"/>
              <a:t>Il existe également </a:t>
            </a:r>
            <a:r>
              <a:rPr lang="fr-FR" i="1" dirty="0"/>
              <a:t>v-show</a:t>
            </a:r>
            <a:r>
              <a:rPr lang="fr-FR" dirty="0"/>
              <a:t> qui a la particularité de masquer un élément, mais seulement par une propriété CSS. C’est-à-dire que l’élément sera toujours dans le DOM de la page et qui pourrait être manipulé même s’il est masqué</a:t>
            </a:r>
            <a:endParaRPr lang="fr-BE" i="1" dirty="0">
              <a:solidFill>
                <a:srgbClr val="A9B7C6"/>
              </a:solidFill>
              <a:latin typeface="JetBrains Mono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35445-86A3-2998-F428-09906561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2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CAB10-7F64-039C-D2AC-722E0259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Rendu de listes et tableaux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C31A9-9C21-E824-5ACE-37CEF24C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Lorsqu’on manipule des tableaux (array), il est évidemment possible de pouvoir itérer dans ce tableau pour afficher son contenu (dans une liste par exemple)</a:t>
            </a:r>
          </a:p>
          <a:p>
            <a:r>
              <a:rPr lang="fr-BE" dirty="0">
                <a:solidFill>
                  <a:srgbClr val="FFC66D"/>
                </a:solidFill>
                <a:latin typeface="JetBrains Mono"/>
              </a:rPr>
              <a:t>data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() {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  </a:t>
            </a:r>
            <a:r>
              <a:rPr lang="fr-BE" dirty="0">
                <a:solidFill>
                  <a:srgbClr val="CC7832"/>
                </a:solidFill>
                <a:latin typeface="JetBrains Mono"/>
              </a:rPr>
              <a:t>return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{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    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items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[{ 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message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dirty="0">
                <a:solidFill>
                  <a:srgbClr val="6A8759"/>
                </a:solidFill>
                <a:latin typeface="JetBrains Mono"/>
              </a:rPr>
              <a:t>'Foo'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}</a:t>
            </a:r>
            <a:r>
              <a:rPr lang="fr-BE" dirty="0">
                <a:solidFill>
                  <a:srgbClr val="CC7832"/>
                </a:solidFill>
                <a:latin typeface="JetBrains Mono"/>
              </a:rPr>
              <a:t>,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{ 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message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dirty="0">
                <a:solidFill>
                  <a:srgbClr val="6A8759"/>
                </a:solidFill>
                <a:latin typeface="JetBrains Mono"/>
              </a:rPr>
              <a:t>'Bar'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}]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  }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A9B7C6"/>
                </a:solidFill>
                <a:latin typeface="JetBrains Mono"/>
              </a:rPr>
              <a:t>}</a:t>
            </a:r>
            <a:r>
              <a:rPr lang="fr-BE" dirty="0">
                <a:solidFill>
                  <a:srgbClr val="CC7832"/>
                </a:solidFill>
                <a:latin typeface="JetBrains Mono"/>
              </a:rPr>
              <a:t>,</a:t>
            </a:r>
            <a:endParaRPr lang="fr-BE" dirty="0">
              <a:solidFill>
                <a:srgbClr val="A9B7C6"/>
              </a:solidFill>
              <a:latin typeface="JetBrains Mono"/>
            </a:endParaRPr>
          </a:p>
          <a:p>
            <a:r>
              <a:rPr lang="fr-BE" dirty="0">
                <a:solidFill>
                  <a:srgbClr val="E8BF6A"/>
                </a:solidFill>
                <a:latin typeface="JetBrains Mono"/>
              </a:rPr>
              <a:t>&lt;li </a:t>
            </a:r>
            <a:r>
              <a:rPr lang="fr-BE" dirty="0">
                <a:solidFill>
                  <a:srgbClr val="BABABA"/>
                </a:solidFill>
                <a:latin typeface="JetBrains Mono"/>
              </a:rPr>
              <a:t>v-for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="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item </a:t>
            </a:r>
            <a:r>
              <a:rPr lang="fr-BE" dirty="0">
                <a:solidFill>
                  <a:srgbClr val="CC7832"/>
                </a:solidFill>
                <a:latin typeface="JetBrains Mono"/>
              </a:rPr>
              <a:t>in </a:t>
            </a:r>
            <a:r>
              <a:rPr lang="fr-BE" dirty="0">
                <a:solidFill>
                  <a:srgbClr val="9876AA"/>
                </a:solidFill>
                <a:latin typeface="JetBrains Mono"/>
              </a:rPr>
              <a:t>items</a:t>
            </a:r>
            <a:r>
              <a:rPr lang="fr-BE" dirty="0">
                <a:solidFill>
                  <a:srgbClr val="A5C261"/>
                </a:solidFill>
                <a:latin typeface="JetBrains Mono"/>
              </a:rPr>
              <a:t>"</a:t>
            </a:r>
            <a:r>
              <a:rPr lang="fr-BE" dirty="0">
                <a:solidFill>
                  <a:srgbClr val="E8BF6A"/>
                </a:solidFill>
                <a:latin typeface="JetBrains Mono"/>
              </a:rPr>
              <a:t>&gt;</a:t>
            </a:r>
            <a:br>
              <a:rPr lang="fr-BE" dirty="0">
                <a:solidFill>
                  <a:srgbClr val="E8BF6A"/>
                </a:solidFill>
                <a:latin typeface="JetBrains Mono"/>
              </a:rPr>
            </a:br>
            <a:r>
              <a:rPr lang="fr-BE" dirty="0">
                <a:solidFill>
                  <a:srgbClr val="E8BF6A"/>
                </a:solidFill>
                <a:latin typeface="JetBrains Mono"/>
              </a:rPr>
              <a:t>  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{{ </a:t>
            </a:r>
            <a:r>
              <a:rPr lang="fr-BE" dirty="0" err="1">
                <a:solidFill>
                  <a:srgbClr val="A9B7C6"/>
                </a:solidFill>
                <a:latin typeface="JetBrains Mono"/>
              </a:rPr>
              <a:t>item.message</a:t>
            </a:r>
            <a:r>
              <a:rPr lang="fr-BE" dirty="0">
                <a:solidFill>
                  <a:srgbClr val="A9B7C6"/>
                </a:solidFill>
                <a:latin typeface="JetBrains Mono"/>
              </a:rPr>
              <a:t> }}</a:t>
            </a:r>
            <a:br>
              <a:rPr lang="fr-BE" dirty="0">
                <a:solidFill>
                  <a:srgbClr val="A9B7C6"/>
                </a:solidFill>
                <a:latin typeface="JetBrains Mono"/>
              </a:rPr>
            </a:br>
            <a:r>
              <a:rPr lang="fr-BE" dirty="0">
                <a:solidFill>
                  <a:srgbClr val="E8BF6A"/>
                </a:solidFill>
                <a:latin typeface="JetBrains Mono"/>
              </a:rPr>
              <a:t>&lt;/li&gt;</a:t>
            </a:r>
          </a:p>
          <a:p>
            <a:r>
              <a:rPr lang="nl-BE" dirty="0"/>
              <a:t>Dés que possible, on passera un attribut </a:t>
            </a:r>
            <a:r>
              <a:rPr lang="nl-BE" i="1" dirty="0"/>
              <a:t>:key=“”</a:t>
            </a:r>
            <a:r>
              <a:rPr lang="nl-BE" dirty="0"/>
              <a:t> qui permettra d’identifier plus facilement un élément dans une liste (notament lorsqu’on passera un composants dans la liste)</a:t>
            </a:r>
          </a:p>
          <a:p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600" dirty="0" err="1">
                <a:solidFill>
                  <a:srgbClr val="F07178"/>
                </a:solidFill>
                <a:latin typeface="Menlo" panose="020B0609030804020204" pitchFamily="49" charset="0"/>
              </a:rPr>
              <a:t>template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600" dirty="0">
                <a:solidFill>
                  <a:srgbClr val="C792EA"/>
                </a:solidFill>
                <a:latin typeface="Menlo" panose="020B0609030804020204" pitchFamily="49" charset="0"/>
              </a:rPr>
              <a:t>v-for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600" dirty="0" err="1">
                <a:solidFill>
                  <a:srgbClr val="A6ACCD"/>
                </a:solidFill>
                <a:latin typeface="Menlo" panose="020B0609030804020204" pitchFamily="49" charset="0"/>
              </a:rPr>
              <a:t>todo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 in </a:t>
            </a:r>
            <a:r>
              <a:rPr lang="fr-BE" sz="1600" dirty="0" err="1">
                <a:solidFill>
                  <a:srgbClr val="A6ACCD"/>
                </a:solidFill>
                <a:latin typeface="Menlo" panose="020B0609030804020204" pitchFamily="49" charset="0"/>
              </a:rPr>
              <a:t>todos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" :</a:t>
            </a:r>
            <a:r>
              <a:rPr lang="fr-BE" sz="1600" dirty="0">
                <a:solidFill>
                  <a:srgbClr val="C792EA"/>
                </a:solidFill>
                <a:latin typeface="Menlo" panose="020B0609030804020204" pitchFamily="49" charset="0"/>
              </a:rPr>
              <a:t>key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600" dirty="0" err="1">
                <a:solidFill>
                  <a:srgbClr val="A6ACCD"/>
                </a:solidFill>
                <a:latin typeface="Menlo" panose="020B0609030804020204" pitchFamily="49" charset="0"/>
              </a:rPr>
              <a:t>todo</a:t>
            </a:r>
            <a:r>
              <a:rPr lang="fr-BE" sz="1600" dirty="0" err="1">
                <a:solidFill>
                  <a:srgbClr val="89DDFF"/>
                </a:solidFill>
                <a:latin typeface="Menlo" panose="020B0609030804020204" pitchFamily="49" charset="0"/>
              </a:rPr>
              <a:t>.</a:t>
            </a:r>
            <a:r>
              <a:rPr lang="fr-BE" sz="1600" dirty="0" err="1">
                <a:solidFill>
                  <a:srgbClr val="A6ACCD"/>
                </a:solidFill>
                <a:latin typeface="Menlo" panose="020B0609030804020204" pitchFamily="49" charset="0"/>
              </a:rPr>
              <a:t>name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  <a:t>   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600" dirty="0">
                <a:solidFill>
                  <a:srgbClr val="F07178"/>
                </a:solidFill>
                <a:latin typeface="Menlo" panose="020B0609030804020204" pitchFamily="49" charset="0"/>
              </a:rPr>
              <a:t>li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&gt;{{</a:t>
            </a:r>
            <a: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600" dirty="0" err="1">
                <a:solidFill>
                  <a:srgbClr val="A6ACCD"/>
                </a:solidFill>
                <a:latin typeface="Menlo" panose="020B0609030804020204" pitchFamily="49" charset="0"/>
              </a:rPr>
              <a:t>todo</a:t>
            </a:r>
            <a:r>
              <a:rPr lang="fr-BE" sz="1600" dirty="0" err="1">
                <a:solidFill>
                  <a:srgbClr val="89DDFF"/>
                </a:solidFill>
                <a:latin typeface="Menlo" panose="020B0609030804020204" pitchFamily="49" charset="0"/>
              </a:rPr>
              <a:t>.</a:t>
            </a:r>
            <a:r>
              <a:rPr lang="fr-BE" sz="1600" dirty="0" err="1">
                <a:solidFill>
                  <a:srgbClr val="A6ACCD"/>
                </a:solidFill>
                <a:latin typeface="Menlo" panose="020B0609030804020204" pitchFamily="49" charset="0"/>
              </a:rPr>
              <a:t>name</a:t>
            </a:r>
            <a: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}}&lt;/</a:t>
            </a:r>
            <a:r>
              <a:rPr lang="fr-BE" sz="1600" dirty="0">
                <a:solidFill>
                  <a:srgbClr val="F07178"/>
                </a:solidFill>
                <a:latin typeface="Menlo" panose="020B0609030804020204" pitchFamily="49" charset="0"/>
              </a:rPr>
              <a:t>li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6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&lt;/</a:t>
            </a:r>
            <a:r>
              <a:rPr lang="fr-BE" sz="1600" dirty="0" err="1">
                <a:solidFill>
                  <a:srgbClr val="F07178"/>
                </a:solidFill>
                <a:latin typeface="Menlo" panose="020B0609030804020204" pitchFamily="49" charset="0"/>
              </a:rPr>
              <a:t>template</a:t>
            </a:r>
            <a:r>
              <a:rPr lang="fr-BE" sz="16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endParaRPr lang="fr-BE" sz="1600" i="1" dirty="0">
              <a:solidFill>
                <a:srgbClr val="A9B7C6"/>
              </a:solidFill>
              <a:latin typeface="JetBrains Mono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35445-86A3-2998-F428-09906561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2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78709-3070-7DA9-58D9-C2B3EE69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évènements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BC9F-C466-B6F2-A037-562C62E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évènements utilisés sont exactement les même que l’on utiliserait en javascript avec </a:t>
            </a:r>
            <a:r>
              <a:rPr lang="fr-FR" i="1" dirty="0"/>
              <a:t>.</a:t>
            </a:r>
            <a:r>
              <a:rPr lang="fr-FR" i="1" dirty="0" err="1"/>
              <a:t>addEventListener</a:t>
            </a:r>
            <a:r>
              <a:rPr lang="fr-FR" i="1" dirty="0"/>
              <a:t>(…)</a:t>
            </a:r>
            <a:endParaRPr lang="fr-FR" dirty="0"/>
          </a:p>
          <a:p>
            <a:r>
              <a:rPr lang="fr-BE" sz="1800" b="0" i="0" dirty="0">
                <a:solidFill>
                  <a:srgbClr val="82AAFF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F78C6C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8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@</a:t>
            </a:r>
            <a:r>
              <a:rPr lang="fr-BE" sz="1800" b="0" i="0" dirty="0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click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count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++"&gt;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1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8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Count 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{{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count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}}&lt;/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fr-FR" dirty="0"/>
          </a:p>
          <a:p>
            <a:r>
              <a:rPr lang="fr-FR" dirty="0"/>
              <a:t>On peut également utiliser des directives intéressantes, pour effectuer des actions spécifiques</a:t>
            </a:r>
          </a:p>
          <a:p>
            <a:r>
              <a:rPr lang="fr-BE" sz="1800" b="0" i="0" dirty="0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&lt;!-- the </a:t>
            </a:r>
            <a:r>
              <a:rPr lang="fr-BE" sz="1800" b="0" i="0" dirty="0" err="1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submit</a:t>
            </a:r>
            <a:r>
              <a:rPr lang="fr-BE" sz="1800" b="0" i="0" dirty="0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 err="1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event</a:t>
            </a:r>
            <a:r>
              <a:rPr lang="fr-BE" sz="1800" b="0" i="0" dirty="0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 err="1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will</a:t>
            </a:r>
            <a:r>
              <a:rPr lang="fr-BE" sz="1800" b="0" i="0" dirty="0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 no longer </a:t>
            </a:r>
            <a:r>
              <a:rPr lang="fr-BE" sz="1800" b="0" i="0" dirty="0" err="1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reload</a:t>
            </a:r>
            <a:r>
              <a:rPr lang="fr-BE" sz="1800" b="0" i="0" dirty="0">
                <a:solidFill>
                  <a:srgbClr val="676E95"/>
                </a:solidFill>
                <a:effectLst/>
                <a:latin typeface="Menlo" panose="020B0609030804020204" pitchFamily="49" charset="0"/>
              </a:rPr>
              <a:t> the page --&gt;</a:t>
            </a:r>
            <a:b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8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@</a:t>
            </a:r>
            <a:r>
              <a:rPr lang="fr-BE" sz="1800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submit</a:t>
            </a:r>
            <a:r>
              <a:rPr lang="fr-BE" sz="1800" b="0" i="0" dirty="0" err="1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BE" sz="1800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prevent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onSubmit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"&gt;&lt;/</a:t>
            </a:r>
            <a:r>
              <a:rPr lang="fr-BE" sz="18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2FA92-D94B-3B8B-086F-F7CECF90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1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78709-3070-7DA9-58D9-C2B3EE69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évènements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BC9F-C466-B6F2-A037-562C62E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On peut bien entendu appeler directement une méthode lorsqu’un évènement se produit</a:t>
            </a:r>
          </a:p>
          <a:p>
            <a:r>
              <a:rPr lang="fr-BE" sz="16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methods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600" b="0" i="0" dirty="0" err="1">
                <a:solidFill>
                  <a:srgbClr val="82AAFF"/>
                </a:solidFill>
                <a:effectLst/>
                <a:latin typeface="Menlo" panose="020B0609030804020204" pitchFamily="49" charset="0"/>
              </a:rPr>
              <a:t>say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message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fr-BE" sz="1600" b="0" i="0" dirty="0" err="1">
                <a:solidFill>
                  <a:srgbClr val="82AAFF"/>
                </a:solidFill>
                <a:effectLst/>
                <a:latin typeface="Menlo" panose="020B0609030804020204" pitchFamily="49" charset="0"/>
              </a:rPr>
              <a:t>alert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message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@</a:t>
            </a:r>
            <a:r>
              <a:rPr lang="fr-BE" sz="1600" b="0" i="0" dirty="0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click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600" b="0" i="0" dirty="0" err="1">
                <a:solidFill>
                  <a:srgbClr val="82AAFF"/>
                </a:solidFill>
                <a:effectLst/>
                <a:latin typeface="Menlo" panose="020B0609030804020204" pitchFamily="49" charset="0"/>
              </a:rPr>
              <a:t>say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('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hello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')"&gt;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Say hello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@</a:t>
            </a:r>
            <a:r>
              <a:rPr lang="fr-BE" sz="1600" b="0" i="0" dirty="0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click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600" b="0" i="0" dirty="0" err="1">
                <a:solidFill>
                  <a:srgbClr val="82AAFF"/>
                </a:solidFill>
                <a:effectLst/>
                <a:latin typeface="Menlo" panose="020B0609030804020204" pitchFamily="49" charset="0"/>
              </a:rPr>
              <a:t>say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('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bye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')"&gt;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Say bye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button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FR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2FA92-D94B-3B8B-086F-F7CECF90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2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78709-3070-7DA9-58D9-C2B3EE69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Form</a:t>
            </a:r>
            <a:r>
              <a:rPr lang="fr-FR" dirty="0"/>
              <a:t> Input Binding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BC9F-C466-B6F2-A037-562C62E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/>
              <a:t>Il est tout à fait possible de lier des champs d’un formulaire à la partie </a:t>
            </a:r>
            <a:r>
              <a:rPr lang="nl-BE" i="1" dirty="0"/>
              <a:t>data()</a:t>
            </a:r>
            <a:r>
              <a:rPr lang="nl-BE" dirty="0"/>
              <a:t> d’un composant. Cela permet notamment de pouvoir intéragir avec ces données plus tard (lors de la soumission du formulaire par exemple)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p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Message 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is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: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message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}}&lt;/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p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v-model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message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 err="1">
                <a:solidFill>
                  <a:srgbClr val="C792EA"/>
                </a:solidFill>
                <a:latin typeface="Menlo" panose="020B0609030804020204" pitchFamily="49" charset="0"/>
              </a:rPr>
              <a:t>placeholder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edit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 me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/&gt;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 err="1">
                <a:solidFill>
                  <a:srgbClr val="F07178"/>
                </a:solidFill>
                <a:latin typeface="Menlo" panose="020B0609030804020204" pitchFamily="49" charset="0"/>
              </a:rPr>
              <a:t>textarea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v-model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text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"&gt;&lt;/</a:t>
            </a:r>
            <a:r>
              <a:rPr lang="fr-BE" sz="1400" dirty="0" err="1">
                <a:solidFill>
                  <a:srgbClr val="F07178"/>
                </a:solidFill>
                <a:latin typeface="Menlo" panose="020B0609030804020204" pitchFamily="49" charset="0"/>
              </a:rPr>
              <a:t>textarea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type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checkbox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F78C6C"/>
                </a:solidFill>
                <a:latin typeface="Menlo" panose="020B0609030804020204" pitchFamily="49" charset="0"/>
              </a:rPr>
              <a:t>id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checkbox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v-model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/&gt;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for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checkbox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"&gt;{{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}}&lt;/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nl-BE" sz="2200" dirty="0"/>
              <a:t>Pour des checkbox, il est tout à fait possible d’utiliser un tableau dans </a:t>
            </a:r>
            <a:r>
              <a:rPr lang="nl-BE" sz="2200" i="1" dirty="0"/>
              <a:t>data()</a:t>
            </a:r>
            <a:r>
              <a:rPr lang="nl-BE" sz="2200" dirty="0"/>
              <a:t> qui contiendra toutes les valeurs, plutôt que de créer une variable par checkbox.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div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names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: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checkedNames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}}&lt;/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div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type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checkbox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F78C6C"/>
                </a:solidFill>
                <a:latin typeface="Menlo" panose="020B0609030804020204" pitchFamily="49" charset="0"/>
              </a:rPr>
              <a:t>id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jack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value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Jack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v-model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checkedNames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for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jack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Jack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&lt;/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type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checkbox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F78C6C"/>
                </a:solidFill>
                <a:latin typeface="Menlo" panose="020B0609030804020204" pitchFamily="49" charset="0"/>
              </a:rPr>
              <a:t>id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john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value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John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v-model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checkedNames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for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john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John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&lt;/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type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checkbox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F78C6C"/>
                </a:solidFill>
                <a:latin typeface="Menlo" panose="020B0609030804020204" pitchFamily="49" charset="0"/>
              </a:rPr>
              <a:t>id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mike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value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Mike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v-model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checkedNames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for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mike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Mike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&lt;/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label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2FA92-D94B-3B8B-086F-F7CECF90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17</a:t>
            </a:fld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D014CD-66C1-A09F-D4CB-878544C3438C}"/>
              </a:ext>
            </a:extLst>
          </p:cNvPr>
          <p:cNvSpPr txBox="1"/>
          <p:nvPr/>
        </p:nvSpPr>
        <p:spPr>
          <a:xfrm>
            <a:off x="777240" y="5757902"/>
            <a:ext cx="468641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hlinkClick r:id="rId2"/>
              </a:rPr>
              <a:t>https://vuejs.org/guide/essentials/forms.html</a:t>
            </a:r>
            <a:r>
              <a:rPr lang="fr-FR" sz="6600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554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78709-3070-7DA9-58D9-C2B3EE69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Lifecycle</a:t>
            </a:r>
            <a:r>
              <a:rPr lang="fr-FR" dirty="0"/>
              <a:t> </a:t>
            </a:r>
            <a:r>
              <a:rPr lang="fr-FR" dirty="0" err="1"/>
              <a:t>Hooks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BC9F-C466-B6F2-A037-562C62E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Il existe une multitude d’évènements où l’on peut effectuer des actions spécifiques pendant la durée de vie d’un composant</a:t>
            </a:r>
          </a:p>
          <a:p>
            <a:r>
              <a:rPr lang="nl-BE" dirty="0"/>
              <a:t>Par exemple, </a:t>
            </a:r>
            <a:r>
              <a:rPr lang="nl-BE" i="1" dirty="0"/>
              <a:t>mounted()</a:t>
            </a:r>
            <a:r>
              <a:rPr lang="nl-BE" dirty="0"/>
              <a:t> sera exécuté après le premier rendu du composant et lorsque le DOM sera initialité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export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default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  </a:t>
            </a:r>
            <a:r>
              <a:rPr lang="fr-BE" sz="1400" dirty="0" err="1">
                <a:solidFill>
                  <a:srgbClr val="F07178"/>
                </a:solidFill>
                <a:latin typeface="Menlo" panose="020B0609030804020204" pitchFamily="49" charset="0"/>
              </a:rPr>
              <a:t>mounted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()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     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console</a:t>
            </a:r>
            <a:r>
              <a:rPr lang="fr-BE" sz="1400" dirty="0" err="1">
                <a:solidFill>
                  <a:srgbClr val="89DDFF"/>
                </a:solidFill>
                <a:latin typeface="Menlo" panose="020B0609030804020204" pitchFamily="49" charset="0"/>
              </a:rPr>
              <a:t>.</a:t>
            </a:r>
            <a:r>
              <a:rPr lang="fr-BE" sz="1400" dirty="0" err="1">
                <a:solidFill>
                  <a:srgbClr val="82AAFF"/>
                </a:solidFill>
                <a:latin typeface="Menlo" panose="020B0609030804020204" pitchFamily="49" charset="0"/>
              </a:rPr>
              <a:t>log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(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`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the component 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is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now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mounted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.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`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)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 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nl-BE" dirty="0">
                <a:hlinkClick r:id="rId2"/>
              </a:rPr>
              <a:t>https://vuejs.org/guide/essentials/lifecycle.html#lifecycle-diagram</a:t>
            </a:r>
            <a:r>
              <a:rPr lang="nl-BE" dirty="0"/>
              <a:t> </a:t>
            </a:r>
          </a:p>
          <a:p>
            <a:endParaRPr lang="fr-BE" sz="1400" dirty="0">
              <a:solidFill>
                <a:srgbClr val="89DDFF"/>
              </a:solidFill>
              <a:latin typeface="Menlo" panose="020B0609030804020204" pitchFamily="49" charset="0"/>
            </a:endParaRPr>
          </a:p>
          <a:p>
            <a:endParaRPr lang="fr-BE" sz="1400" dirty="0">
              <a:solidFill>
                <a:srgbClr val="89DDFF"/>
              </a:solidFill>
              <a:latin typeface="Menlo" panose="020B060903080402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2FA92-D94B-3B8B-086F-F7CECF90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6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78709-3070-7DA9-58D9-C2B3EE69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Watchers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BC9F-C466-B6F2-A037-562C62E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Les watchers fonctionnent un peu comme les computed properties</a:t>
            </a:r>
          </a:p>
          <a:p>
            <a:r>
              <a:rPr lang="nl-BE" dirty="0"/>
              <a:t>La différence est qu’on les utilise plutôt dans un contexte de modifier du DOM ou bien d’exécuter du code asynchrone</a:t>
            </a:r>
          </a:p>
          <a:p>
            <a:r>
              <a:rPr lang="fr-BE" sz="1700" dirty="0">
                <a:solidFill>
                  <a:srgbClr val="FFC66D"/>
                </a:solidFill>
                <a:latin typeface="JetBrains Mono"/>
              </a:rPr>
              <a:t>data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() {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</a:t>
            </a:r>
            <a:r>
              <a:rPr lang="fr-BE" sz="1700" dirty="0">
                <a:solidFill>
                  <a:srgbClr val="CC7832"/>
                </a:solidFill>
                <a:latin typeface="JetBrains Mono"/>
              </a:rPr>
              <a:t>return 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{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  </a:t>
            </a:r>
            <a:r>
              <a:rPr lang="fr-BE" sz="1700" dirty="0">
                <a:solidFill>
                  <a:srgbClr val="9876AA"/>
                </a:solidFill>
                <a:latin typeface="JetBrains Mono"/>
              </a:rPr>
              <a:t>question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: </a:t>
            </a:r>
            <a:r>
              <a:rPr lang="fr-BE" sz="1700" dirty="0">
                <a:solidFill>
                  <a:srgbClr val="6A8759"/>
                </a:solidFill>
                <a:latin typeface="JetBrains Mono"/>
              </a:rPr>
              <a:t>''</a:t>
            </a:r>
            <a:r>
              <a:rPr lang="fr-BE" sz="1700" dirty="0">
                <a:solidFill>
                  <a:srgbClr val="CC7832"/>
                </a:solidFill>
                <a:latin typeface="JetBrains Mono"/>
              </a:rPr>
              <a:t>,</a:t>
            </a:r>
            <a:br>
              <a:rPr lang="fr-BE" sz="1700" dirty="0">
                <a:solidFill>
                  <a:srgbClr val="CC7832"/>
                </a:solidFill>
                <a:latin typeface="JetBrains Mono"/>
              </a:rPr>
            </a:br>
            <a:r>
              <a:rPr lang="fr-BE" sz="1700" dirty="0">
                <a:solidFill>
                  <a:srgbClr val="CC7832"/>
                </a:solidFill>
                <a:latin typeface="JetBrains Mono"/>
              </a:rPr>
              <a:t>  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}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}</a:t>
            </a:r>
            <a:r>
              <a:rPr lang="fr-BE" sz="1700" dirty="0">
                <a:solidFill>
                  <a:srgbClr val="CC7832"/>
                </a:solidFill>
                <a:latin typeface="JetBrains Mono"/>
              </a:rPr>
              <a:t>,</a:t>
            </a:r>
            <a:br>
              <a:rPr lang="fr-BE" sz="1700" dirty="0">
                <a:solidFill>
                  <a:srgbClr val="CC7832"/>
                </a:solidFill>
                <a:latin typeface="JetBrains Mono"/>
              </a:rPr>
            </a:br>
            <a:r>
              <a:rPr lang="fr-BE" sz="1700" dirty="0" err="1">
                <a:solidFill>
                  <a:srgbClr val="9876AA"/>
                </a:solidFill>
                <a:latin typeface="JetBrains Mono"/>
              </a:rPr>
              <a:t>watch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: {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</a:t>
            </a:r>
            <a:r>
              <a:rPr lang="fr-BE" sz="1700" dirty="0">
                <a:solidFill>
                  <a:srgbClr val="808080"/>
                </a:solidFill>
                <a:latin typeface="JetBrains Mono"/>
              </a:rPr>
              <a:t>// </a:t>
            </a:r>
            <a:r>
              <a:rPr lang="fr-BE" sz="1700" dirty="0" err="1">
                <a:solidFill>
                  <a:srgbClr val="808080"/>
                </a:solidFill>
                <a:latin typeface="JetBrains Mono"/>
              </a:rPr>
              <a:t>whenever</a:t>
            </a:r>
            <a:r>
              <a:rPr lang="fr-BE" sz="1700" dirty="0">
                <a:solidFill>
                  <a:srgbClr val="808080"/>
                </a:solidFill>
                <a:latin typeface="JetBrains Mono"/>
              </a:rPr>
              <a:t> question changes, </a:t>
            </a:r>
            <a:r>
              <a:rPr lang="fr-BE" sz="1700" dirty="0" err="1">
                <a:solidFill>
                  <a:srgbClr val="808080"/>
                </a:solidFill>
                <a:latin typeface="JetBrains Mono"/>
              </a:rPr>
              <a:t>this</a:t>
            </a:r>
            <a:r>
              <a:rPr lang="fr-BE" sz="1700" dirty="0">
                <a:solidFill>
                  <a:srgbClr val="808080"/>
                </a:solidFill>
                <a:latin typeface="JetBrains Mono"/>
              </a:rPr>
              <a:t> </a:t>
            </a:r>
            <a:r>
              <a:rPr lang="fr-BE" sz="1700" dirty="0" err="1">
                <a:solidFill>
                  <a:srgbClr val="808080"/>
                </a:solidFill>
                <a:latin typeface="JetBrains Mono"/>
              </a:rPr>
              <a:t>function</a:t>
            </a:r>
            <a:r>
              <a:rPr lang="fr-BE" sz="1700" dirty="0">
                <a:solidFill>
                  <a:srgbClr val="808080"/>
                </a:solidFill>
                <a:latin typeface="JetBrains Mono"/>
              </a:rPr>
              <a:t> </a:t>
            </a:r>
            <a:r>
              <a:rPr lang="fr-BE" sz="1700" dirty="0" err="1">
                <a:solidFill>
                  <a:srgbClr val="808080"/>
                </a:solidFill>
                <a:latin typeface="JetBrains Mono"/>
              </a:rPr>
              <a:t>will</a:t>
            </a:r>
            <a:r>
              <a:rPr lang="fr-BE" sz="1700" dirty="0">
                <a:solidFill>
                  <a:srgbClr val="808080"/>
                </a:solidFill>
                <a:latin typeface="JetBrains Mono"/>
              </a:rPr>
              <a:t> run</a:t>
            </a:r>
            <a:br>
              <a:rPr lang="fr-BE" sz="1700" dirty="0">
                <a:solidFill>
                  <a:srgbClr val="808080"/>
                </a:solidFill>
                <a:latin typeface="JetBrains Mono"/>
              </a:rPr>
            </a:br>
            <a:r>
              <a:rPr lang="fr-BE" sz="1700" dirty="0">
                <a:solidFill>
                  <a:srgbClr val="808080"/>
                </a:solidFill>
                <a:latin typeface="JetBrains Mono"/>
              </a:rPr>
              <a:t>  </a:t>
            </a:r>
            <a:r>
              <a:rPr lang="fr-BE" sz="1700" dirty="0">
                <a:solidFill>
                  <a:srgbClr val="FFC66D"/>
                </a:solidFill>
                <a:latin typeface="JetBrains Mono"/>
              </a:rPr>
              <a:t>question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(</a:t>
            </a:r>
            <a:r>
              <a:rPr lang="fr-BE" sz="1700" dirty="0" err="1">
                <a:solidFill>
                  <a:srgbClr val="A9B7C6"/>
                </a:solidFill>
                <a:latin typeface="JetBrains Mono"/>
              </a:rPr>
              <a:t>newQuestion</a:t>
            </a:r>
            <a:r>
              <a:rPr lang="fr-BE" sz="1700" dirty="0">
                <a:solidFill>
                  <a:srgbClr val="CC7832"/>
                </a:solidFill>
                <a:latin typeface="JetBrains Mono"/>
              </a:rPr>
              <a:t>, </a:t>
            </a:r>
            <a:r>
              <a:rPr lang="fr-BE" sz="1700" dirty="0" err="1">
                <a:solidFill>
                  <a:srgbClr val="A9B7C6"/>
                </a:solidFill>
                <a:latin typeface="JetBrains Mono"/>
              </a:rPr>
              <a:t>oldQuestion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) {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  </a:t>
            </a:r>
            <a:r>
              <a:rPr lang="fr-BE" sz="1700" dirty="0">
                <a:solidFill>
                  <a:srgbClr val="CC7832"/>
                </a:solidFill>
                <a:latin typeface="JetBrains Mono"/>
              </a:rPr>
              <a:t>if 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(</a:t>
            </a:r>
            <a:r>
              <a:rPr lang="fr-BE" sz="1700" dirty="0" err="1">
                <a:solidFill>
                  <a:srgbClr val="A9B7C6"/>
                </a:solidFill>
                <a:latin typeface="JetBrains Mono"/>
              </a:rPr>
              <a:t>newQuestion.</a:t>
            </a:r>
            <a:r>
              <a:rPr lang="fr-BE" sz="1700" dirty="0" err="1">
                <a:solidFill>
                  <a:srgbClr val="FFC66D"/>
                </a:solidFill>
                <a:latin typeface="JetBrains Mono"/>
              </a:rPr>
              <a:t>includes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(</a:t>
            </a:r>
            <a:r>
              <a:rPr lang="fr-BE" sz="1700" dirty="0">
                <a:solidFill>
                  <a:srgbClr val="6A8759"/>
                </a:solidFill>
                <a:latin typeface="JetBrains Mono"/>
              </a:rPr>
              <a:t>'?'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)) {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    </a:t>
            </a:r>
            <a:r>
              <a:rPr lang="fr-BE" sz="1700" dirty="0" err="1">
                <a:solidFill>
                  <a:srgbClr val="CC7832"/>
                </a:solidFill>
                <a:latin typeface="JetBrains Mono"/>
              </a:rPr>
              <a:t>this</a:t>
            </a:r>
            <a:r>
              <a:rPr lang="fr-BE" sz="1700" dirty="0" err="1">
                <a:solidFill>
                  <a:srgbClr val="A9B7C6"/>
                </a:solidFill>
                <a:latin typeface="JetBrains Mono"/>
              </a:rPr>
              <a:t>.getAnswer</a:t>
            </a:r>
            <a:r>
              <a:rPr lang="fr-BE" sz="1700" dirty="0">
                <a:solidFill>
                  <a:srgbClr val="A9B7C6"/>
                </a:solidFill>
                <a:latin typeface="JetBrains Mono"/>
              </a:rPr>
              <a:t>()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  }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  }</a:t>
            </a:r>
            <a:br>
              <a:rPr lang="fr-BE" sz="1700" dirty="0">
                <a:solidFill>
                  <a:srgbClr val="A9B7C6"/>
                </a:solidFill>
                <a:latin typeface="JetBrains Mono"/>
              </a:rPr>
            </a:br>
            <a:r>
              <a:rPr lang="fr-BE" sz="1700" dirty="0">
                <a:solidFill>
                  <a:srgbClr val="A9B7C6"/>
                </a:solidFill>
                <a:latin typeface="JetBrains Mono"/>
              </a:rPr>
              <a:t>}</a:t>
            </a:r>
            <a:r>
              <a:rPr lang="fr-BE" sz="1700" dirty="0">
                <a:solidFill>
                  <a:srgbClr val="CC7832"/>
                </a:solidFill>
                <a:latin typeface="JetBrains Mono"/>
              </a:rPr>
              <a:t>,</a:t>
            </a:r>
            <a:endParaRPr lang="fr-BE" sz="1700" dirty="0">
              <a:solidFill>
                <a:srgbClr val="A9B7C6"/>
              </a:solidFill>
              <a:latin typeface="JetBrains Mono"/>
            </a:endParaRPr>
          </a:p>
          <a:p>
            <a:endParaRPr lang="fr-BE" sz="1400" dirty="0">
              <a:solidFill>
                <a:srgbClr val="89DDFF"/>
              </a:solidFill>
              <a:latin typeface="Menlo" panose="020B0609030804020204" pitchFamily="49" charset="0"/>
            </a:endParaRPr>
          </a:p>
          <a:p>
            <a:endParaRPr lang="fr-BE" sz="1400" dirty="0">
              <a:solidFill>
                <a:srgbClr val="89DDFF"/>
              </a:solidFill>
              <a:latin typeface="Menlo" panose="020B060903080402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2FA92-D94B-3B8B-086F-F7CECF90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1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78709-3070-7DA9-58D9-C2B3EE69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Template </a:t>
            </a:r>
            <a:r>
              <a:rPr lang="fr-FR" dirty="0" err="1"/>
              <a:t>Refs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BC9F-C466-B6F2-A037-562C62E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Les </a:t>
            </a:r>
            <a:r>
              <a:rPr lang="nl-BE" i="1" dirty="0"/>
              <a:t>refs</a:t>
            </a:r>
            <a:r>
              <a:rPr lang="nl-BE" dirty="0"/>
              <a:t> permettent directement d’accéder aux éléments du DOM sans devoir passer par les opérations traditionnelles du Javascript </a:t>
            </a:r>
            <a:r>
              <a:rPr lang="nl-BE" i="1" dirty="0"/>
              <a:t>document.getElementById(), …</a:t>
            </a:r>
            <a:endParaRPr lang="nl-BE" dirty="0"/>
          </a:p>
          <a:p>
            <a:r>
              <a:rPr lang="nl-BE" dirty="0"/>
              <a:t>VueJS crée son propre DOM en mémoire, ce qui lui permet d’effectuer des manipulations un peu différentes du DOM classique</a:t>
            </a:r>
          </a:p>
          <a:p>
            <a:r>
              <a:rPr lang="nl-BE" dirty="0"/>
              <a:t>On utilise ainsi la propriété </a:t>
            </a:r>
            <a:r>
              <a:rPr lang="nl-BE" i="1" dirty="0"/>
              <a:t>ref=“”</a:t>
            </a:r>
            <a:r>
              <a:rPr lang="nl-BE" dirty="0"/>
              <a:t> plutôt que l’accès via l’ID ou les class d’un élément du DOM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C792EA"/>
                </a:solidFill>
                <a:latin typeface="Menlo" panose="020B0609030804020204" pitchFamily="49" charset="0"/>
              </a:rPr>
              <a:t>ref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C3E88D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"&gt;</a:t>
            </a:r>
          </a:p>
          <a:p>
            <a:r>
              <a:rPr lang="fr-BE" sz="1400" dirty="0" err="1">
                <a:solidFill>
                  <a:srgbClr val="F07178"/>
                </a:solidFill>
                <a:latin typeface="Menlo" panose="020B0609030804020204" pitchFamily="49" charset="0"/>
              </a:rPr>
              <a:t>mounted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()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  </a:t>
            </a:r>
            <a:r>
              <a:rPr lang="fr-BE" sz="1400" dirty="0" err="1">
                <a:solidFill>
                  <a:srgbClr val="89DDFF"/>
                </a:solidFill>
                <a:latin typeface="Menlo" panose="020B0609030804020204" pitchFamily="49" charset="0"/>
              </a:rPr>
              <a:t>this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.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$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refs</a:t>
            </a:r>
            <a:r>
              <a:rPr lang="fr-BE" sz="1400" dirty="0" err="1">
                <a:solidFill>
                  <a:srgbClr val="89DDFF"/>
                </a:solidFill>
                <a:latin typeface="Menlo" panose="020B0609030804020204" pitchFamily="49" charset="0"/>
              </a:rPr>
              <a:t>.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input</a:t>
            </a:r>
            <a:r>
              <a:rPr lang="fr-BE" sz="1400" dirty="0" err="1">
                <a:solidFill>
                  <a:srgbClr val="89DDFF"/>
                </a:solidFill>
                <a:latin typeface="Menlo" panose="020B0609030804020204" pitchFamily="49" charset="0"/>
              </a:rPr>
              <a:t>.</a:t>
            </a:r>
            <a:r>
              <a:rPr lang="fr-BE" sz="1400" dirty="0" err="1">
                <a:solidFill>
                  <a:srgbClr val="82AAFF"/>
                </a:solidFill>
                <a:latin typeface="Menlo" panose="020B0609030804020204" pitchFamily="49" charset="0"/>
              </a:rPr>
              <a:t>focus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()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2FA92-D94B-3B8B-086F-F7CECF90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3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0924E2-CC96-C220-EA39-6DBEB391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 nouveaux composants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69E6C-54AB-0603-AC2F-D1584EE1C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L’intérêt de </a:t>
            </a:r>
            <a:r>
              <a:rPr lang="fr-FR" dirty="0" err="1"/>
              <a:t>VueJS</a:t>
            </a:r>
            <a:r>
              <a:rPr lang="fr-FR" dirty="0"/>
              <a:t>, c’est de découper son code en plusieurs composants</a:t>
            </a:r>
          </a:p>
          <a:p>
            <a:r>
              <a:rPr lang="fr-FR" dirty="0"/>
              <a:t>Chaque composant doit garder sa propre logique métier et doit conserver une approche réutilisable</a:t>
            </a:r>
          </a:p>
          <a:p>
            <a:pPr lvl="1"/>
            <a:r>
              <a:rPr lang="fr-FR" dirty="0"/>
              <a:t>Un composant pour la </a:t>
            </a:r>
            <a:r>
              <a:rPr lang="fr-FR" dirty="0" err="1"/>
              <a:t>navbar</a:t>
            </a:r>
            <a:endParaRPr lang="fr-FR" dirty="0"/>
          </a:p>
          <a:p>
            <a:pPr lvl="2"/>
            <a:r>
              <a:rPr lang="fr-FR" dirty="0"/>
              <a:t>Un composant pour chaque lien de la </a:t>
            </a:r>
            <a:r>
              <a:rPr lang="fr-FR" dirty="0" err="1"/>
              <a:t>navbar</a:t>
            </a:r>
            <a:endParaRPr lang="fr-FR" dirty="0"/>
          </a:p>
          <a:p>
            <a:pPr lvl="1"/>
            <a:r>
              <a:rPr lang="fr-FR" dirty="0"/>
              <a:t>Un composant pour une barre de recherche</a:t>
            </a:r>
          </a:p>
          <a:p>
            <a:pPr lvl="1"/>
            <a:r>
              <a:rPr lang="fr-FR" dirty="0"/>
              <a:t>Un composant pour un bouton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Pour chaque composant, on créera son propre fichier .vue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CED074-6048-7989-2C12-7811EC4B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4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A3344-9B4A-18AD-6A44-C0CF7A0E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Utiliser un composant dans un autre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D64A4D-AE64-8BE6-5A38-4B08E0618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ButtonCounter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 err="1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BE" sz="18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./</a:t>
            </a:r>
            <a:r>
              <a:rPr lang="fr-BE" sz="18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ButtonCounter.vue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export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components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    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ButtonCounter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8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Here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BE" sz="18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child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component!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8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8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ButtonCounter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/&gt;</a:t>
            </a:r>
            <a: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8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8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fr-BE" sz="18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3A0AE4-25BB-B692-6AD8-7B54F0F0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8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144EA-D3DD-764A-2551-F9984F90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Passer des données dans un composants</a:t>
            </a:r>
            <a:br>
              <a:rPr lang="fr-FR" dirty="0"/>
            </a:br>
            <a:r>
              <a:rPr lang="fr-FR" dirty="0"/>
              <a:t>(les </a:t>
            </a:r>
            <a:r>
              <a:rPr lang="fr-FR" dirty="0" err="1"/>
              <a:t>props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E99341-A132-D8E0-DB89-DCDC13D4A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peut passer des données / arguments dans un composant pour faire réagir sa logique métier en fonction des besoins</a:t>
            </a:r>
          </a:p>
          <a:p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export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props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]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h4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&gt;{{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}}&lt;/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h4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fr-BE" sz="1600" b="0" i="0" dirty="0">
              <a:solidFill>
                <a:srgbClr val="89DDFF"/>
              </a:solidFill>
              <a:effectLst/>
              <a:latin typeface="Menlo" panose="020B0609030804020204" pitchFamily="49" charset="0"/>
            </a:endParaRPr>
          </a:p>
          <a:p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BlogPost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My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journey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Vue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 /&gt;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BlogPost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Blogging 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Vue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 /&gt;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BlogPost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Why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Vue 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so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 fun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 /&gt;</a:t>
            </a:r>
            <a:endParaRPr lang="fr-FR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16F99A-19FA-1B9E-27D6-D28C50B3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9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2A872-9D40-5EA4-26E7-98D0E1F4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Réagir à un évènements d’un composant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D5591E-15F2-B841-E907-32087AB04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L’idée est de faire réagir le parent d’un composant lorsqu’un évènement se produit au sein de ce même composant</a:t>
            </a:r>
          </a:p>
          <a:p>
            <a:r>
              <a:rPr lang="fr-FR" dirty="0"/>
              <a:t>Par exemple, un composant contient un bouton, et on veut que le parent effectue une action</a:t>
            </a:r>
          </a:p>
          <a:p>
            <a:r>
              <a:rPr lang="fr-BE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// Composant parent</a:t>
            </a:r>
            <a:br>
              <a:rPr lang="fr-BE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JetBrains Mono"/>
              </a:rPr>
              <a:t>TodoListForm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 </a:t>
            </a:r>
            <a:r>
              <a:rPr lang="fr-BE" dirty="0">
                <a:solidFill>
                  <a:srgbClr val="BABABA"/>
                </a:solidFill>
                <a:effectLst/>
                <a:latin typeface="JetBrains Mono"/>
              </a:rPr>
              <a:t>@</a:t>
            </a:r>
            <a:r>
              <a:rPr lang="fr-BE" dirty="0" err="1">
                <a:solidFill>
                  <a:srgbClr val="BABABA"/>
                </a:solidFill>
                <a:effectLst/>
                <a:latin typeface="JetBrains Mono"/>
              </a:rPr>
              <a:t>form-submit</a:t>
            </a:r>
            <a:r>
              <a:rPr lang="fr-BE" dirty="0">
                <a:solidFill>
                  <a:srgbClr val="A5C261"/>
                </a:solidFill>
                <a:effectLst/>
                <a:latin typeface="JetBrains Mono"/>
              </a:rPr>
              <a:t>="</a:t>
            </a:r>
            <a:r>
              <a:rPr lang="fr-BE" dirty="0" err="1">
                <a:solidFill>
                  <a:srgbClr val="A9B7C6"/>
                </a:solidFill>
                <a:effectLst/>
                <a:latin typeface="JetBrains Mono"/>
              </a:rPr>
              <a:t>mafonction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lang="fr-BE" dirty="0">
                <a:solidFill>
                  <a:srgbClr val="A5C261"/>
                </a:solidFill>
                <a:effectLst/>
                <a:latin typeface="JetBrains Mono"/>
              </a:rPr>
              <a:t>"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/&gt;</a:t>
            </a:r>
            <a:endParaRPr lang="fr-BE" dirty="0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fr-BE" dirty="0">
                <a:solidFill>
                  <a:schemeClr val="bg1">
                    <a:lumMod val="75000"/>
                  </a:schemeClr>
                </a:solidFill>
                <a:effectLst/>
                <a:latin typeface="JetBrains Mono"/>
              </a:rPr>
              <a:t>// Composant enfant</a:t>
            </a:r>
            <a:br>
              <a:rPr lang="fr-BE" dirty="0">
                <a:solidFill>
                  <a:srgbClr val="E8BF6A"/>
                </a:solidFill>
                <a:effectLst/>
                <a:latin typeface="JetBrains Mono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JetBrains Mono"/>
              </a:rPr>
              <a:t>button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 </a:t>
            </a:r>
            <a:r>
              <a:rPr lang="fr-BE" dirty="0">
                <a:solidFill>
                  <a:srgbClr val="BABABA"/>
                </a:solidFill>
                <a:effectLst/>
                <a:latin typeface="JetBrains Mono"/>
              </a:rPr>
              <a:t>@click</a:t>
            </a:r>
            <a:r>
              <a:rPr lang="fr-BE" dirty="0">
                <a:solidFill>
                  <a:srgbClr val="A5C261"/>
                </a:solidFill>
                <a:effectLst/>
                <a:latin typeface="JetBrains Mono"/>
              </a:rPr>
              <a:t>="</a:t>
            </a:r>
            <a:r>
              <a:rPr lang="fr-BE" dirty="0">
                <a:solidFill>
                  <a:srgbClr val="9876AA"/>
                </a:solidFill>
                <a:effectLst/>
                <a:latin typeface="JetBrains Mono"/>
              </a:rPr>
              <a:t>$</a:t>
            </a:r>
            <a:r>
              <a:rPr lang="fr-BE" dirty="0" err="1">
                <a:solidFill>
                  <a:srgbClr val="9876AA"/>
                </a:solidFill>
                <a:effectLst/>
                <a:latin typeface="JetBrains Mono"/>
              </a:rPr>
              <a:t>emit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‘</a:t>
            </a:r>
            <a:r>
              <a:rPr lang="fr-BE" dirty="0" err="1">
                <a:solidFill>
                  <a:srgbClr val="6A8759"/>
                </a:solidFill>
                <a:effectLst/>
                <a:latin typeface="JetBrains Mono"/>
              </a:rPr>
              <a:t>form-submit</a:t>
            </a:r>
            <a:r>
              <a:rPr lang="fr-BE" dirty="0">
                <a:solidFill>
                  <a:srgbClr val="6A8759"/>
                </a:solidFill>
                <a:effectLst/>
                <a:latin typeface="JetBrains Mono"/>
              </a:rPr>
              <a:t>’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fr-BE" dirty="0">
                <a:solidFill>
                  <a:srgbClr val="A5C261"/>
                </a:solidFill>
                <a:effectLst/>
                <a:latin typeface="JetBrains Mono"/>
              </a:rPr>
              <a:t> »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  <a:r>
              <a:rPr lang="fr-BE" dirty="0">
                <a:solidFill>
                  <a:srgbClr val="A9B7C6"/>
                </a:solidFill>
                <a:effectLst/>
                <a:latin typeface="JetBrains Mono"/>
              </a:rPr>
              <a:t>Envoyer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&lt;/</a:t>
            </a:r>
            <a:r>
              <a:rPr lang="fr-BE" dirty="0" err="1">
                <a:solidFill>
                  <a:srgbClr val="E8BF6A"/>
                </a:solidFill>
                <a:effectLst/>
                <a:latin typeface="JetBrains Mono"/>
              </a:rPr>
              <a:t>button</a:t>
            </a:r>
            <a:r>
              <a:rPr lang="fr-BE" dirty="0">
                <a:solidFill>
                  <a:srgbClr val="E8BF6A"/>
                </a:solidFill>
                <a:effectLst/>
                <a:latin typeface="JetBrains Mono"/>
              </a:rPr>
              <a:t>&gt;</a:t>
            </a:r>
          </a:p>
          <a:p>
            <a:r>
              <a:rPr lang="fr-FR" dirty="0"/>
              <a:t>On peut bien sûr passer des données dans cet appel de fonction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 err="1">
                <a:solidFill>
                  <a:srgbClr val="F07178"/>
                </a:solidFill>
                <a:latin typeface="Menlo" panose="020B0609030804020204" pitchFamily="49" charset="0"/>
              </a:rPr>
              <a:t>button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@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click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>
                <a:solidFill>
                  <a:srgbClr val="82AAFF"/>
                </a:solidFill>
                <a:latin typeface="Menlo" panose="020B0609030804020204" pitchFamily="49" charset="0"/>
              </a:rPr>
              <a:t>$</a:t>
            </a:r>
            <a:r>
              <a:rPr lang="fr-BE" sz="1400" dirty="0" err="1">
                <a:solidFill>
                  <a:srgbClr val="82AAFF"/>
                </a:solidFill>
                <a:latin typeface="Menlo" panose="020B0609030804020204" pitchFamily="49" charset="0"/>
              </a:rPr>
              <a:t>emit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('</a:t>
            </a:r>
            <a:r>
              <a:rPr lang="fr-BE" sz="1400" dirty="0" err="1">
                <a:solidFill>
                  <a:srgbClr val="C3E88D"/>
                </a:solidFill>
                <a:latin typeface="Menlo" panose="020B0609030804020204" pitchFamily="49" charset="0"/>
              </a:rPr>
              <a:t>increaseBy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', </a:t>
            </a:r>
            <a:r>
              <a:rPr lang="fr-BE" sz="1400" dirty="0">
                <a:solidFill>
                  <a:srgbClr val="F78C6C"/>
                </a:solidFill>
                <a:latin typeface="Menlo" panose="020B0609030804020204" pitchFamily="49" charset="0"/>
              </a:rPr>
              <a:t>1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)"&gt;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  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Increase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by 1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&lt;/</a:t>
            </a:r>
            <a:r>
              <a:rPr lang="fr-BE" sz="1400" dirty="0" err="1">
                <a:solidFill>
                  <a:srgbClr val="F07178"/>
                </a:solidFill>
                <a:latin typeface="Menlo" panose="020B0609030804020204" pitchFamily="49" charset="0"/>
              </a:rPr>
              <a:t>button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&lt;</a:t>
            </a:r>
            <a:r>
              <a:rPr lang="fr-BE" sz="1400" dirty="0" err="1">
                <a:solidFill>
                  <a:srgbClr val="FFCB6B"/>
                </a:solidFill>
                <a:latin typeface="Menlo" panose="020B0609030804020204" pitchFamily="49" charset="0"/>
              </a:rPr>
              <a:t>MyButton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 @</a:t>
            </a:r>
            <a:r>
              <a:rPr lang="fr-BE" sz="1400" dirty="0" err="1">
                <a:solidFill>
                  <a:srgbClr val="C792EA"/>
                </a:solidFill>
                <a:latin typeface="Menlo" panose="020B0609030804020204" pitchFamily="49" charset="0"/>
              </a:rPr>
              <a:t>increase</a:t>
            </a:r>
            <a:r>
              <a:rPr lang="fr-BE" sz="1400" dirty="0">
                <a:solidFill>
                  <a:srgbClr val="C792EA"/>
                </a:solidFill>
                <a:latin typeface="Menlo" panose="020B0609030804020204" pitchFamily="49" charset="0"/>
              </a:rPr>
              <a:t>-by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="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increaseCount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" /&gt;</a:t>
            </a:r>
            <a:endParaRPr lang="fr-BE" dirty="0">
              <a:solidFill>
                <a:srgbClr val="89DDFF"/>
              </a:solidFill>
              <a:latin typeface="Menlo" panose="020B0609030804020204" pitchFamily="49" charset="0"/>
            </a:endParaRPr>
          </a:p>
          <a:p>
            <a:r>
              <a:rPr lang="fr-BE" sz="1400" dirty="0" err="1">
                <a:solidFill>
                  <a:srgbClr val="FFCB6B"/>
                </a:solidFill>
                <a:latin typeface="Menlo" panose="020B0609030804020204" pitchFamily="49" charset="0"/>
              </a:rPr>
              <a:t>methods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: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  </a:t>
            </a:r>
            <a:r>
              <a:rPr lang="fr-BE" sz="1400" dirty="0" err="1">
                <a:solidFill>
                  <a:srgbClr val="82AAFF"/>
                </a:solidFill>
                <a:latin typeface="Menlo" panose="020B0609030804020204" pitchFamily="49" charset="0"/>
              </a:rPr>
              <a:t>increaseCount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(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n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)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{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r>
              <a:rPr lang="fr-BE" sz="1400" dirty="0" err="1">
                <a:solidFill>
                  <a:srgbClr val="89DDFF"/>
                </a:solidFill>
                <a:latin typeface="Menlo" panose="020B0609030804020204" pitchFamily="49" charset="0"/>
              </a:rPr>
              <a:t>this.</a:t>
            </a:r>
            <a:r>
              <a:rPr lang="fr-BE" sz="1400" dirty="0" err="1">
                <a:solidFill>
                  <a:srgbClr val="A6ACCD"/>
                </a:solidFill>
                <a:latin typeface="Menlo" panose="020B0609030804020204" pitchFamily="49" charset="0"/>
              </a:rPr>
              <a:t>count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+=</a:t>
            </a:r>
            <a:r>
              <a:rPr lang="fr-BE" sz="1400" dirty="0">
                <a:solidFill>
                  <a:srgbClr val="F07178"/>
                </a:solidFill>
                <a:latin typeface="Menlo" panose="020B0609030804020204" pitchFamily="49" charset="0"/>
              </a:rPr>
              <a:t> 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n </a:t>
            </a: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</a:t>
            </a:r>
            <a: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  <a:t> </a:t>
            </a:r>
            <a:br>
              <a:rPr lang="fr-BE" sz="1400" dirty="0">
                <a:solidFill>
                  <a:srgbClr val="A6ACCD"/>
                </a:solidFill>
                <a:latin typeface="Menlo" panose="020B0609030804020204" pitchFamily="49" charset="0"/>
              </a:rPr>
            </a:br>
            <a:r>
              <a:rPr lang="fr-BE" sz="1400" dirty="0">
                <a:solidFill>
                  <a:srgbClr val="89DDFF"/>
                </a:solidFill>
                <a:latin typeface="Menlo" panose="020B0609030804020204" pitchFamily="49" charset="0"/>
              </a:rPr>
              <a:t>}</a:t>
            </a:r>
            <a:endParaRPr lang="fr-BE" sz="1400" dirty="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DF3D49-BD10-A651-E71E-C32720E9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6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2A872-9D40-5EA4-26E7-98D0E1F4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Slot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D5591E-15F2-B841-E907-32087AB04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Comme pour une balise HTML, on peut passer aussi du contenu à un composant de cette manière</a:t>
            </a:r>
          </a:p>
          <a:p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AlertBox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Something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bad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happened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 err="1">
                <a:solidFill>
                  <a:srgbClr val="FFCB6B"/>
                </a:solidFill>
                <a:effectLst/>
                <a:latin typeface="Menlo" panose="020B0609030804020204" pitchFamily="49" charset="0"/>
              </a:rPr>
              <a:t>AlertBox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BE" sz="1800" b="0" i="0" dirty="0">
              <a:solidFill>
                <a:srgbClr val="89DDFF"/>
              </a:solidFill>
              <a:effectLst/>
              <a:latin typeface="Menlo" panose="020B0609030804020204" pitchFamily="49" charset="0"/>
            </a:endParaRPr>
          </a:p>
          <a:p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>
                <a:solidFill>
                  <a:srgbClr val="C792EA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fr-BE" sz="1600" b="0" i="0" dirty="0" err="1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alert</a:t>
            </a:r>
            <a:r>
              <a:rPr lang="fr-BE" sz="1600" b="0" i="0" dirty="0">
                <a:solidFill>
                  <a:srgbClr val="C3E88D"/>
                </a:solidFill>
                <a:effectLst/>
                <a:latin typeface="Menlo" panose="020B0609030804020204" pitchFamily="49" charset="0"/>
              </a:rPr>
              <a:t>-box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"&gt;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This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an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Error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for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Demo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BE" sz="1600" b="0" i="0" dirty="0" err="1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Purposes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slot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 /&gt;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fr-BE" sz="1600" b="0" i="0" dirty="0">
                <a:solidFill>
                  <a:srgbClr val="A6ACCD"/>
                </a:solidFill>
                <a:effectLst/>
                <a:latin typeface="Menlo" panose="020B0609030804020204" pitchFamily="49" charset="0"/>
              </a:rPr>
            </a:b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fr-BE" sz="1600" b="0" i="0" dirty="0" err="1">
                <a:solidFill>
                  <a:srgbClr val="F07178"/>
                </a:solidFill>
                <a:effectLst/>
                <a:latin typeface="Menlo" panose="020B0609030804020204" pitchFamily="49" charset="0"/>
              </a:rPr>
              <a:t>template</a:t>
            </a:r>
            <a:r>
              <a:rPr lang="fr-BE" sz="1600" b="0" i="0" dirty="0">
                <a:solidFill>
                  <a:srgbClr val="89DDFF"/>
                </a:solidFill>
                <a:effectLst/>
                <a:latin typeface="Menlo" panose="020B0609030804020204" pitchFamily="49" charset="0"/>
              </a:rPr>
              <a:t>&gt;</a:t>
            </a:r>
            <a:endParaRPr lang="fr-BE" sz="1800" dirty="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DF3D49-BD10-A651-E71E-C32720E9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78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39020-C578-77A9-7270-8041A071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Exercice 01 – Une barre de recherche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FCF974-71A0-E319-B3D3-3F5104B12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Créer une application </a:t>
            </a:r>
            <a:r>
              <a:rPr lang="fr-FR" dirty="0" err="1"/>
              <a:t>VueJS</a:t>
            </a:r>
            <a:r>
              <a:rPr lang="fr-FR" dirty="0"/>
              <a:t> qui permettra d’effectuer une recherche dans un Input et d’afficher les résultats dans une liste</a:t>
            </a:r>
          </a:p>
          <a:p>
            <a:r>
              <a:rPr lang="fr-FR" dirty="0"/>
              <a:t>Il doit y avoir 4 composants</a:t>
            </a:r>
          </a:p>
          <a:p>
            <a:pPr lvl="1"/>
            <a:r>
              <a:rPr lang="fr-FR" dirty="0"/>
              <a:t>Le composant principal App</a:t>
            </a:r>
          </a:p>
          <a:p>
            <a:pPr lvl="1"/>
            <a:r>
              <a:rPr lang="fr-FR" dirty="0"/>
              <a:t>La barre de recherche </a:t>
            </a:r>
            <a:r>
              <a:rPr lang="fr-FR" dirty="0" err="1"/>
              <a:t>SearchBar</a:t>
            </a:r>
            <a:endParaRPr lang="fr-FR" dirty="0"/>
          </a:p>
          <a:p>
            <a:pPr lvl="1"/>
            <a:r>
              <a:rPr lang="fr-FR" dirty="0"/>
              <a:t>Le composant de résultat global </a:t>
            </a:r>
            <a:r>
              <a:rPr lang="fr-FR" dirty="0" err="1"/>
              <a:t>SearchBarResultList</a:t>
            </a:r>
            <a:endParaRPr lang="fr-FR" dirty="0"/>
          </a:p>
          <a:p>
            <a:pPr lvl="1"/>
            <a:r>
              <a:rPr lang="fr-FR" dirty="0"/>
              <a:t>Le composant de résultat </a:t>
            </a:r>
            <a:r>
              <a:rPr lang="fr-FR" dirty="0" err="1"/>
              <a:t>SearchBarResultItem</a:t>
            </a:r>
            <a:endParaRPr lang="fr-FR" dirty="0"/>
          </a:p>
          <a:p>
            <a:r>
              <a:rPr lang="fr-FR" dirty="0"/>
              <a:t>Le composant principal App doit contenir une liste d’éléments à rechercher dans un tableau (Par exemple une liste de villes)</a:t>
            </a:r>
          </a:p>
          <a:p>
            <a:r>
              <a:rPr lang="fr-FR" dirty="0"/>
              <a:t>Les résultats doivent se mettre à jour lorsque qu’un utilisateur modifie l’Input de recherche (Voir les évènements dans la documentation de </a:t>
            </a:r>
            <a:r>
              <a:rPr lang="fr-FR" dirty="0" err="1"/>
              <a:t>VueJS</a:t>
            </a:r>
            <a:r>
              <a:rPr lang="fr-FR" dirty="0"/>
              <a:t>)</a:t>
            </a:r>
          </a:p>
          <a:p>
            <a:r>
              <a:rPr lang="fr-FR" dirty="0"/>
              <a:t>On utilisera la propriété </a:t>
            </a:r>
            <a:r>
              <a:rPr lang="fr-FR" i="1" dirty="0"/>
              <a:t>slot</a:t>
            </a:r>
            <a:r>
              <a:rPr lang="fr-FR" dirty="0"/>
              <a:t> dans </a:t>
            </a:r>
            <a:r>
              <a:rPr lang="fr-FR" i="1" dirty="0" err="1"/>
              <a:t>SearchBarResultItem</a:t>
            </a:r>
            <a:r>
              <a:rPr lang="fr-FR" dirty="0"/>
              <a:t> pour afficher un résultat d’une réponse</a:t>
            </a:r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08C0F2-B182-079E-9F26-8B74AB58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74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39020-C578-77A9-7270-8041A071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Exercice 02 – Une application qui affiche la météo d’une ville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FCF974-71A0-E319-B3D3-3F5104B12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Grâce à l’API et </a:t>
            </a:r>
            <a:r>
              <a:rPr lang="fr-FR" dirty="0" err="1"/>
              <a:t>axios</a:t>
            </a:r>
            <a:r>
              <a:rPr lang="fr-FR" dirty="0"/>
              <a:t> </a:t>
            </a:r>
            <a:r>
              <a:rPr lang="fr-FR" dirty="0">
                <a:hlinkClick r:id="rId3"/>
              </a:rPr>
              <a:t>https://www.weatherapi.com/</a:t>
            </a:r>
            <a:r>
              <a:rPr lang="fr-FR" dirty="0"/>
              <a:t> qui est disponible gratuitement, créer une application qui permet d’entrer le nom d’une ville et d’en connaître la météo</a:t>
            </a:r>
          </a:p>
          <a:p>
            <a:r>
              <a:rPr lang="fr-FR" dirty="0"/>
              <a:t>Il faut afficher une image d’un thermomètre qui varie selon la météo</a:t>
            </a:r>
          </a:p>
          <a:p>
            <a:r>
              <a:rPr lang="fr-FR" dirty="0"/>
              <a:t>Exemple de </a:t>
            </a:r>
            <a:r>
              <a:rPr lang="fr-FR" dirty="0" err="1"/>
              <a:t>query</a:t>
            </a:r>
            <a:r>
              <a:rPr lang="fr-FR" dirty="0"/>
              <a:t> :</a:t>
            </a:r>
            <a:br>
              <a:rPr lang="fr-FR" dirty="0"/>
            </a:b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http://</a:t>
            </a:r>
            <a:r>
              <a:rPr lang="fr-BE" sz="1900" b="0" i="0" dirty="0" err="1">
                <a:solidFill>
                  <a:srgbClr val="ABB2BF"/>
                </a:solidFill>
                <a:effectLst/>
                <a:latin typeface="SFMono-Regular"/>
              </a:rPr>
              <a:t>api.weatherapi.com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/v</a:t>
            </a:r>
            <a:r>
              <a:rPr lang="fr-BE" sz="1900" b="0" i="0" dirty="0">
                <a:solidFill>
                  <a:srgbClr val="D19A66"/>
                </a:solidFill>
                <a:effectLst/>
                <a:latin typeface="SFMono-Regular"/>
              </a:rPr>
              <a:t>1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/</a:t>
            </a:r>
            <a:r>
              <a:rPr lang="fr-BE" sz="1900" b="0" i="0" dirty="0" err="1">
                <a:solidFill>
                  <a:srgbClr val="ABB2BF"/>
                </a:solidFill>
                <a:effectLst/>
                <a:latin typeface="SFMono-Regular"/>
              </a:rPr>
              <a:t>current.json?key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=</a:t>
            </a:r>
            <a:r>
              <a:rPr lang="fr-BE" sz="1900" b="0" i="0" dirty="0">
                <a:solidFill>
                  <a:srgbClr val="D19A66"/>
                </a:solidFill>
                <a:effectLst/>
                <a:latin typeface="SFMono-Regular"/>
              </a:rPr>
              <a:t>621e595263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f</a:t>
            </a:r>
            <a:r>
              <a:rPr lang="fr-BE" sz="1900" b="0" i="0" dirty="0">
                <a:solidFill>
                  <a:srgbClr val="D19A66"/>
                </a:solidFill>
                <a:effectLst/>
                <a:latin typeface="SFMono-Regular"/>
              </a:rPr>
              <a:t>642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eaac</a:t>
            </a:r>
            <a:r>
              <a:rPr lang="fr-BE" sz="1900" b="0" i="0" dirty="0">
                <a:solidFill>
                  <a:srgbClr val="D19A66"/>
                </a:solidFill>
                <a:effectLst/>
                <a:latin typeface="SFMono-Regular"/>
              </a:rPr>
              <a:t>6164645233001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&amp;q=</a:t>
            </a:r>
            <a:r>
              <a:rPr lang="fr-BE" sz="1900" b="1" i="0" dirty="0" err="1">
                <a:solidFill>
                  <a:srgbClr val="FF0000"/>
                </a:solidFill>
                <a:effectLst/>
                <a:latin typeface="SFMono-Regular"/>
              </a:rPr>
              <a:t>VILLE</a:t>
            </a:r>
            <a:r>
              <a:rPr lang="fr-BE" sz="1900" b="0" i="0" dirty="0" err="1">
                <a:solidFill>
                  <a:srgbClr val="ABB2BF"/>
                </a:solidFill>
                <a:effectLst/>
                <a:latin typeface="SFMono-Regular"/>
              </a:rPr>
              <a:t>&amp;aqi</a:t>
            </a:r>
            <a:r>
              <a:rPr lang="fr-BE" sz="1900" b="0" i="0" dirty="0">
                <a:solidFill>
                  <a:srgbClr val="ABB2BF"/>
                </a:solidFill>
                <a:effectLst/>
                <a:latin typeface="SFMono-Regular"/>
              </a:rPr>
              <a:t>=no</a:t>
            </a:r>
            <a:endParaRPr lang="fr-FR" dirty="0"/>
          </a:p>
          <a:p>
            <a:r>
              <a:rPr lang="fr-FR" dirty="0"/>
              <a:t>Il doit y avoir 3 composants</a:t>
            </a:r>
          </a:p>
          <a:p>
            <a:pPr lvl="1"/>
            <a:r>
              <a:rPr lang="fr-FR" dirty="0"/>
              <a:t>Le composant principal App</a:t>
            </a:r>
          </a:p>
          <a:p>
            <a:pPr lvl="1"/>
            <a:r>
              <a:rPr lang="fr-FR" dirty="0"/>
              <a:t>Un composant </a:t>
            </a:r>
            <a:r>
              <a:rPr lang="fr-FR" i="1" dirty="0" err="1"/>
              <a:t>CityInput</a:t>
            </a:r>
            <a:r>
              <a:rPr lang="fr-FR" dirty="0"/>
              <a:t> qui permet d’entrer le nom de la vie</a:t>
            </a:r>
          </a:p>
          <a:p>
            <a:pPr lvl="1"/>
            <a:r>
              <a:rPr lang="fr-FR" dirty="0"/>
              <a:t>Un composant </a:t>
            </a:r>
            <a:r>
              <a:rPr lang="fr-FR" i="1" dirty="0" err="1"/>
              <a:t>WeatherResult</a:t>
            </a:r>
            <a:r>
              <a:rPr lang="fr-FR" dirty="0"/>
              <a:t> qui permet d’afficher la réponse de l’API</a:t>
            </a:r>
          </a:p>
          <a:p>
            <a:r>
              <a:rPr lang="fr-FR" dirty="0"/>
              <a:t>La recherche de ville ne doit s’effectuer que lorsqu’on valide le formulaire et si l’input fait au moins 3 caractères (Afficher un message d’erreur si ce n’est pas le cas)</a:t>
            </a:r>
          </a:p>
          <a:p>
            <a:r>
              <a:rPr lang="fr-FR" dirty="0"/>
              <a:t>Afficher l’icône de météo directement retournée dans la réponse de l’API de </a:t>
            </a:r>
            <a:r>
              <a:rPr lang="fr-FR" dirty="0" err="1"/>
              <a:t>weatherapi</a:t>
            </a:r>
            <a:endParaRPr lang="fr-FR" dirty="0"/>
          </a:p>
          <a:p>
            <a:r>
              <a:rPr lang="fr-FR" dirty="0"/>
              <a:t>Si l’API nous renvoie une erreur, il faut afficher cette erreur dans </a:t>
            </a:r>
            <a:r>
              <a:rPr lang="fr-FR" dirty="0" err="1"/>
              <a:t>WeatherResult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08C0F2-B182-079E-9F26-8B74AB58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23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F9963-C536-DA75-08C2-D3D08907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03 – Une </a:t>
            </a:r>
            <a:r>
              <a:rPr lang="fr-FR" dirty="0" err="1"/>
              <a:t>todolist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5D42B0-B4FF-6657-36C0-F1742A408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Créer une </a:t>
            </a:r>
            <a:r>
              <a:rPr lang="fr-FR" dirty="0" err="1"/>
              <a:t>todolist</a:t>
            </a:r>
            <a:r>
              <a:rPr lang="fr-FR" dirty="0"/>
              <a:t> respectant les fonctionnalités démontrées dans ces deux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B82C-AD72-3745-51E9-E7B5B87E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28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D5D401-C0DA-5077-7D5F-E5316EC6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2" y="2546657"/>
            <a:ext cx="3475038" cy="363030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32720A5-C4AC-6BE5-9D9F-F5E57A2E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22" y="2546657"/>
            <a:ext cx="3249611" cy="363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67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03FC1B-B663-4CFA-BBB2-3899CE99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24428B-B7E1-6408-26B6-157BED7C6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Créer une liste de tâches à faire en utilisant des composants </a:t>
            </a:r>
            <a:r>
              <a:rPr lang="fr-FR" dirty="0" err="1"/>
              <a:t>VueJS</a:t>
            </a:r>
            <a:r>
              <a:rPr lang="fr-FR" dirty="0"/>
              <a:t>.</a:t>
            </a:r>
          </a:p>
          <a:p>
            <a:r>
              <a:rPr lang="fr-FR" dirty="0"/>
              <a:t>Afficher une liste de produits avec des images et des descriptions en utilisant un tableau et une boucle.</a:t>
            </a:r>
          </a:p>
          <a:p>
            <a:r>
              <a:rPr lang="fr-FR" dirty="0"/>
              <a:t>Créer un formulaire d'inscription avec des champs de saisie de données.</a:t>
            </a:r>
          </a:p>
          <a:p>
            <a:r>
              <a:rPr lang="fr-FR" strike="sngStrike" dirty="0"/>
              <a:t>Créer une barre de recherche qui filtre les données d'une liste en temps réel.</a:t>
            </a:r>
          </a:p>
          <a:p>
            <a:r>
              <a:rPr lang="fr-FR" dirty="0"/>
              <a:t>Créer un mini-jeu de devinette avec des messages de succès/échec en utilisant des conditions.</a:t>
            </a:r>
          </a:p>
          <a:p>
            <a:r>
              <a:rPr lang="fr-FR" strike="sngStrike" dirty="0"/>
              <a:t>Créer une application de météo qui affiche la température et les conditions météorologiques pour une ville spécifiée.</a:t>
            </a:r>
          </a:p>
          <a:p>
            <a:r>
              <a:rPr lang="fr-FR" dirty="0"/>
              <a:t>Implémenter la navigation entre les pages d'une application en utilisant Vue Router.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8B01BC-43AF-5BF8-08AC-86B847A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8783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9556</TotalTime>
  <Words>2615</Words>
  <Application>Microsoft Macintosh PowerPoint</Application>
  <PresentationFormat>Grand écran</PresentationFormat>
  <Paragraphs>195</Paragraphs>
  <Slides>29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Gill Sans Nova</vt:lpstr>
      <vt:lpstr>JetBrains Mono</vt:lpstr>
      <vt:lpstr>Menlo</vt:lpstr>
      <vt:lpstr>SFMono-Regular</vt:lpstr>
      <vt:lpstr>ConfettiVTI</vt:lpstr>
      <vt:lpstr>IFAPME - X75-2  Développeur web front end 2022-2023</vt:lpstr>
      <vt:lpstr>VueJS</vt:lpstr>
      <vt:lpstr>Quand utiliser VueJS ?</vt:lpstr>
      <vt:lpstr>Installer VueJS</vt:lpstr>
      <vt:lpstr>Single-File Components (SFC)</vt:lpstr>
      <vt:lpstr>Afficher une variable</vt:lpstr>
      <vt:lpstr>Fondamentaux de la réactivité</vt:lpstr>
      <vt:lpstr>Ajouter des méthodes à notre composant</vt:lpstr>
      <vt:lpstr>Binding d’attributs</vt:lpstr>
      <vt:lpstr>Binding d’attributs</vt:lpstr>
      <vt:lpstr>Les computed properties</vt:lpstr>
      <vt:lpstr>Class binding</vt:lpstr>
      <vt:lpstr>Rendu conditionnel</vt:lpstr>
      <vt:lpstr>Rendu de listes et tableaux</vt:lpstr>
      <vt:lpstr>Les évènements</vt:lpstr>
      <vt:lpstr>Les évènements</vt:lpstr>
      <vt:lpstr>Form Input Binding</vt:lpstr>
      <vt:lpstr>Lifecycle Hooks</vt:lpstr>
      <vt:lpstr>Les Watchers</vt:lpstr>
      <vt:lpstr>Template Refs</vt:lpstr>
      <vt:lpstr>Création de nouveaux composants</vt:lpstr>
      <vt:lpstr>Utiliser un composant dans un autre</vt:lpstr>
      <vt:lpstr>Passer des données dans un composants (les props)</vt:lpstr>
      <vt:lpstr>Réagir à un évènements d’un composant</vt:lpstr>
      <vt:lpstr>Slot</vt:lpstr>
      <vt:lpstr>Exercice 01 – Une barre de recherche</vt:lpstr>
      <vt:lpstr>Exercice 02 – Une application qui affiche la météo d’une ville</vt:lpstr>
      <vt:lpstr>Exercice 03 – Une todolist</vt:lpstr>
      <vt:lpstr>Exercices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IFAPME - X75  Développeur web front end 2022</dc:title>
  <dc:creator>Romain Vause</dc:creator>
  <cp:lastModifiedBy>ROMAIN VAUSE</cp:lastModifiedBy>
  <cp:revision>22</cp:revision>
  <dcterms:created xsi:type="dcterms:W3CDTF">2022-12-22T18:37:12Z</dcterms:created>
  <dcterms:modified xsi:type="dcterms:W3CDTF">2025-11-05T20:10:20Z</dcterms:modified>
</cp:coreProperties>
</file>